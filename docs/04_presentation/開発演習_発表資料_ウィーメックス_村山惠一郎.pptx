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6" r:id="rId5"/>
    <p:sldId id="262" r:id="rId6"/>
    <p:sldId id="267" r:id="rId7"/>
    <p:sldId id="268" r:id="rId8"/>
    <p:sldId id="269" r:id="rId9"/>
    <p:sldId id="263" r:id="rId10"/>
    <p:sldId id="270" r:id="rId11"/>
    <p:sldId id="260" r:id="rId12"/>
    <p:sldId id="271" r:id="rId13"/>
    <p:sldId id="273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28" autoAdjust="0"/>
    <p:restoredTop sz="94601" autoAdjust="0"/>
  </p:normalViewPr>
  <p:slideViewPr>
    <p:cSldViewPr snapToGrid="0">
      <p:cViewPr>
        <p:scale>
          <a:sx n="66" d="100"/>
          <a:sy n="66" d="100"/>
        </p:scale>
        <p:origin x="880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DFB48-BF8E-4DAE-9245-C7BDFBBD32B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24C29-D08E-4ED8-BCF4-38B75C40CB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169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BCC208-9B79-FF56-B154-C54EB3049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0A63F0E-817A-C640-FBAD-35AAE490F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0C8096-0AA2-E629-BECB-5EAE2084B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4B26-A1C0-44AD-8EC1-46B0E6C6CFD9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DB292E-D88E-8B09-3CF2-ED4A0BD0A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529E32-302A-52A1-66AB-F62CEEC4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086" y="6398730"/>
            <a:ext cx="440635" cy="322745"/>
          </a:xfrm>
          <a:prstGeom prst="rect">
            <a:avLst/>
          </a:prstGeom>
        </p:spPr>
        <p:txBody>
          <a:bodyPr/>
          <a:lstStyle/>
          <a:p>
            <a:fld id="{00D2F285-7DC3-4F9C-8E53-6893EECBFE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152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4099F3-4C72-50D2-4CF6-965DE7359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1527E8-169B-DF98-B277-A3DD64BED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878"/>
            <a:ext cx="10515600" cy="5014085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7504D0-4050-9F94-B3B5-1ED8BBA15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425C4-82FA-44CD-9E0C-9F3A2EACAB3C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DE00EF-FEF9-86A3-88F0-C501196E4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949010-28B6-CA35-3FF4-61E15E91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086" y="6398730"/>
            <a:ext cx="440635" cy="322745"/>
          </a:xfrm>
          <a:prstGeom prst="rect">
            <a:avLst/>
          </a:prstGeom>
        </p:spPr>
        <p:txBody>
          <a:bodyPr/>
          <a:lstStyle/>
          <a:p>
            <a:fld id="{00D2F285-7DC3-4F9C-8E53-6893EECBFE4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B6D039A-3619-130F-5D21-D929A856BB08}"/>
              </a:ext>
            </a:extLst>
          </p:cNvPr>
          <p:cNvSpPr/>
          <p:nvPr userDrawn="1"/>
        </p:nvSpPr>
        <p:spPr>
          <a:xfrm>
            <a:off x="168965" y="178904"/>
            <a:ext cx="258418" cy="7156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902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AAF06D-6F4C-DEC8-74AC-33531DDBE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7E716B-5CAA-A526-D2A2-D3B221701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3FDD32-DAC1-E359-6884-26FF890B0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286-461F-4119-8ED2-4BD1EA4294A1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991996-07BC-7FFC-ED65-3FB6B5BD8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5B3C3E-9BB1-7F42-0E72-9E44E021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086" y="6398730"/>
            <a:ext cx="440635" cy="322745"/>
          </a:xfrm>
          <a:prstGeom prst="rect">
            <a:avLst/>
          </a:prstGeom>
        </p:spPr>
        <p:txBody>
          <a:bodyPr/>
          <a:lstStyle/>
          <a:p>
            <a:fld id="{00D2F285-7DC3-4F9C-8E53-6893EECBFE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414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4E91D3-09CA-BEF9-BE4B-6746CDFAC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C2940F-2B7B-6889-07FD-4C9BBF0749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13183"/>
            <a:ext cx="5181600" cy="506378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CAE388-11E6-B289-9D5C-99B720CF4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13183"/>
            <a:ext cx="5181600" cy="506378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2D941E-74F6-06A8-9FAB-5F8D4051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E7B8-695E-4956-A391-F21139339BC3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FDF29A-6F48-2369-E035-BBFD752A8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1C7C61-77F7-9515-1F7A-E7206AB2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086" y="6398730"/>
            <a:ext cx="440635" cy="322745"/>
          </a:xfrm>
          <a:prstGeom prst="rect">
            <a:avLst/>
          </a:prstGeom>
        </p:spPr>
        <p:txBody>
          <a:bodyPr/>
          <a:lstStyle/>
          <a:p>
            <a:fld id="{00D2F285-7DC3-4F9C-8E53-6893EECBFE4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BCB9087-06DE-C5F9-6B9D-A14E0FA9092C}"/>
              </a:ext>
            </a:extLst>
          </p:cNvPr>
          <p:cNvSpPr/>
          <p:nvPr userDrawn="1"/>
        </p:nvSpPr>
        <p:spPr>
          <a:xfrm>
            <a:off x="168965" y="178904"/>
            <a:ext cx="258418" cy="7156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792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B8F37A-BDED-706A-05BB-3683DADD0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6121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0FADE9A-FE8E-0E83-FDAF-38E8B2630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45640"/>
            <a:ext cx="5157787" cy="4244023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B3201C7-FD96-1B05-8259-45D90C2C1D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6121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C676B96-DCB2-D3CD-CD8D-A99D08D2CE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45640"/>
            <a:ext cx="5183188" cy="4244023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220F162-772C-4DE3-54DC-2FFD11401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4676-9088-4480-87BB-D6B9E8174652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1F680C6-9751-B30E-BF7B-D7F4B2F7D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B25A187-8594-8F94-2657-1AD50A132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086" y="6398730"/>
            <a:ext cx="440635" cy="322745"/>
          </a:xfrm>
          <a:prstGeom prst="rect">
            <a:avLst/>
          </a:prstGeom>
        </p:spPr>
        <p:txBody>
          <a:bodyPr/>
          <a:lstStyle/>
          <a:p>
            <a:fld id="{00D2F285-7DC3-4F9C-8E53-6893EECBFE4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6267884E-EA86-7E0C-96A5-E73B83B0F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8" y="178905"/>
            <a:ext cx="10515600" cy="715618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0FC5D90-B701-9DB7-149D-F7DC40CBCF51}"/>
              </a:ext>
            </a:extLst>
          </p:cNvPr>
          <p:cNvSpPr/>
          <p:nvPr userDrawn="1"/>
        </p:nvSpPr>
        <p:spPr>
          <a:xfrm>
            <a:off x="168965" y="178904"/>
            <a:ext cx="258418" cy="7156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067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3CA0A4-75F9-5CA0-6E7A-3E712FF7B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B8DFE20-459C-4A0B-13DF-9141BC7C7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13E53-2127-4652-900A-E1D3C2639990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3A89080-C715-B4FB-D7E1-EAB44D96C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0AC1A47-42BD-BA6C-4DC8-C4C3B8D4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086" y="6398730"/>
            <a:ext cx="440635" cy="322745"/>
          </a:xfrm>
          <a:prstGeom prst="rect">
            <a:avLst/>
          </a:prstGeom>
        </p:spPr>
        <p:txBody>
          <a:bodyPr/>
          <a:lstStyle/>
          <a:p>
            <a:fld id="{00D2F285-7DC3-4F9C-8E53-6893EECBFE4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A68F929-6671-31E9-9076-F185534937F1}"/>
              </a:ext>
            </a:extLst>
          </p:cNvPr>
          <p:cNvSpPr/>
          <p:nvPr userDrawn="1"/>
        </p:nvSpPr>
        <p:spPr>
          <a:xfrm>
            <a:off x="168965" y="178904"/>
            <a:ext cx="258418" cy="7156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6625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E05F465-D9D7-E119-9A13-21CF39A5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106F-8324-489E-80F0-B5099391AEEF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589F0BD-206F-158C-A1F4-6DB309BBF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203E068-E8BB-4C2A-6177-C97E5744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086" y="6398730"/>
            <a:ext cx="440635" cy="322745"/>
          </a:xfrm>
          <a:prstGeom prst="rect">
            <a:avLst/>
          </a:prstGeom>
        </p:spPr>
        <p:txBody>
          <a:bodyPr/>
          <a:lstStyle/>
          <a:p>
            <a:fld id="{00D2F285-7DC3-4F9C-8E53-6893EECBFE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991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FD47AD-3CED-C3B7-58F0-F5AE25449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25785E-0E9B-BB75-A563-98B9C438F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7B87E52-F741-2731-39C5-E0A526CBA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4F04CE-6D44-057E-9D4F-FAB667D3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3E8E-8355-49C9-A419-1543DCC21B1E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DE3408-2CE9-B3D2-B2CF-BF2084098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7D3A66-278B-650A-E149-47BF3ACEB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086" y="6398730"/>
            <a:ext cx="440635" cy="322745"/>
          </a:xfrm>
          <a:prstGeom prst="rect">
            <a:avLst/>
          </a:prstGeom>
        </p:spPr>
        <p:txBody>
          <a:bodyPr/>
          <a:lstStyle/>
          <a:p>
            <a:fld id="{00D2F285-7DC3-4F9C-8E53-6893EECBFE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99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D2CDBC-84F9-BD05-76E3-16126FC63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87A30A6-61A9-0346-CB3B-83D405CEAF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0088016-197D-FCF0-33ED-3064B16F0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701F71-A41D-C624-F2AF-CE19A1B55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7C48-78BE-4858-B40C-3517251B57DE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A2C620-F7BC-A851-BCE7-F8119C34E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2A2DE6-EAE7-9C53-241F-F7DFCECFE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086" y="6398730"/>
            <a:ext cx="440635" cy="322745"/>
          </a:xfrm>
          <a:prstGeom prst="rect">
            <a:avLst/>
          </a:prstGeom>
        </p:spPr>
        <p:txBody>
          <a:bodyPr/>
          <a:lstStyle/>
          <a:p>
            <a:fld id="{00D2F285-7DC3-4F9C-8E53-6893EECBFE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481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0FFA52-9DC5-DED0-227B-B3D9C8B7A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64A4020-2362-4B10-7FA3-2B49D6D41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4EA4D7-278B-F0F1-D479-8D7F6ECB8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7D0F8-DFCF-4320-A332-F83FD0E7F027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EE354D-64D1-3C98-633F-F8593CE19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A47D47-FC30-8C8D-7265-EECEE053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086" y="6398730"/>
            <a:ext cx="440635" cy="322745"/>
          </a:xfrm>
          <a:prstGeom prst="rect">
            <a:avLst/>
          </a:prstGeom>
        </p:spPr>
        <p:txBody>
          <a:bodyPr/>
          <a:lstStyle/>
          <a:p>
            <a:fld id="{00D2F285-7DC3-4F9C-8E53-6893EECBFE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589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42A1E9F-D1DF-B412-F783-0DE4D85B0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E5779C8-D4AA-7702-F110-814B724BB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D7F68C-D48B-E2AD-A775-4A64BD8CE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E35CD-CAC0-46AD-A2FD-B231044FB32F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418032-A14D-B993-D3C1-D69ACB2ED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83553C-677B-8A04-2452-34F8C17A3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086" y="6398730"/>
            <a:ext cx="440635" cy="322745"/>
          </a:xfrm>
          <a:prstGeom prst="rect">
            <a:avLst/>
          </a:prstGeom>
        </p:spPr>
        <p:txBody>
          <a:bodyPr/>
          <a:lstStyle/>
          <a:p>
            <a:fld id="{00D2F285-7DC3-4F9C-8E53-6893EECBFE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372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556556F-5F02-1FD8-EE95-748F5263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8" y="178905"/>
            <a:ext cx="10515600" cy="715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454486-23D8-B5BB-DDFD-4B172C467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F28D69-3449-0B51-5257-B225CA39C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693989-4497-462D-9D80-A771669ACCD6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A8903C-A9F3-8A65-EA97-15596FE41F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2EED4D-7A0B-F5BD-62B7-2A83F75F3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9086" y="6398730"/>
            <a:ext cx="440635" cy="3227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fld id="{00D2F285-7DC3-4F9C-8E53-6893EECBFE4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0718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5E2554-7D80-06AB-266A-59C19C667C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研修報告</a:t>
            </a:r>
            <a:br>
              <a:rPr kumimoji="1" lang="en-US" altLang="ja-JP" dirty="0"/>
            </a:br>
            <a:r>
              <a:rPr kumimoji="1" lang="ja-JP" altLang="en-US" dirty="0"/>
              <a:t>「</a:t>
            </a:r>
            <a:r>
              <a:rPr kumimoji="1" lang="en-US" altLang="ja-JP" dirty="0"/>
              <a:t>WEB</a:t>
            </a:r>
            <a:r>
              <a:rPr kumimoji="1" lang="ja-JP" altLang="en-US" dirty="0"/>
              <a:t>アプリ開発演習」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2413588-DD06-DDA6-2C5F-C3E0FB234D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ja-JP" dirty="0"/>
          </a:p>
          <a:p>
            <a:r>
              <a:rPr kumimoji="1" lang="ja-JP" altLang="en-US" dirty="0"/>
              <a:t>ウィーメックス株式会社</a:t>
            </a:r>
            <a:endParaRPr kumimoji="1" lang="en-US" altLang="ja-JP" dirty="0"/>
          </a:p>
          <a:p>
            <a:r>
              <a:rPr lang="ja-JP" altLang="en-US" dirty="0"/>
              <a:t>村山 惠一郎</a:t>
            </a:r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8FAD7D-7ADF-755E-1DEF-7AD56239FD8A}"/>
              </a:ext>
            </a:extLst>
          </p:cNvPr>
          <p:cNvSpPr txBox="1"/>
          <p:nvPr/>
        </p:nvSpPr>
        <p:spPr>
          <a:xfrm>
            <a:off x="10668000" y="75408"/>
            <a:ext cx="1357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2026/05/29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14701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AA2D4-268C-1EA3-C774-0DDF9C5A6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開発スケジュール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878FE03-35EC-3150-39C4-DB787146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F285-7DC3-4F9C-8E53-6893EECBFE42}" type="slidenum">
              <a:rPr kumimoji="1" lang="ja-JP" altLang="en-US" smtClean="0"/>
              <a:t>2</a:t>
            </a:fld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3401CA75-04B1-29B4-D0E4-9C500D2C9E8B}"/>
              </a:ext>
            </a:extLst>
          </p:cNvPr>
          <p:cNvCxnSpPr>
            <a:cxnSpLocks/>
          </p:cNvCxnSpPr>
          <p:nvPr/>
        </p:nvCxnSpPr>
        <p:spPr>
          <a:xfrm>
            <a:off x="906033" y="2441238"/>
            <a:ext cx="0" cy="321454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510EF1D-803E-C99C-5544-98CF0B159264}"/>
              </a:ext>
            </a:extLst>
          </p:cNvPr>
          <p:cNvSpPr txBox="1"/>
          <p:nvPr/>
        </p:nvSpPr>
        <p:spPr>
          <a:xfrm>
            <a:off x="-76140" y="4534194"/>
            <a:ext cx="1093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実際</a:t>
            </a:r>
            <a:endParaRPr kumimoji="1" lang="ja-JP" altLang="en-US" dirty="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98EB6588-BE66-ECCE-A8B1-5C2F2E8881A9}"/>
              </a:ext>
            </a:extLst>
          </p:cNvPr>
          <p:cNvCxnSpPr>
            <a:cxnSpLocks/>
          </p:cNvCxnSpPr>
          <p:nvPr/>
        </p:nvCxnSpPr>
        <p:spPr>
          <a:xfrm>
            <a:off x="2392007" y="2441238"/>
            <a:ext cx="0" cy="321454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1F9A2840-6219-C7C6-0148-EC37D9EFEC26}"/>
              </a:ext>
            </a:extLst>
          </p:cNvPr>
          <p:cNvCxnSpPr>
            <a:cxnSpLocks/>
          </p:cNvCxnSpPr>
          <p:nvPr/>
        </p:nvCxnSpPr>
        <p:spPr>
          <a:xfrm>
            <a:off x="3877981" y="2441238"/>
            <a:ext cx="0" cy="321454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8B7831E-90D2-5646-2EC8-C07BD0870FF8}"/>
              </a:ext>
            </a:extLst>
          </p:cNvPr>
          <p:cNvCxnSpPr>
            <a:cxnSpLocks/>
          </p:cNvCxnSpPr>
          <p:nvPr/>
        </p:nvCxnSpPr>
        <p:spPr>
          <a:xfrm>
            <a:off x="5363955" y="2441238"/>
            <a:ext cx="0" cy="321454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469BA843-C924-3EEE-5B80-743C34F709D1}"/>
              </a:ext>
            </a:extLst>
          </p:cNvPr>
          <p:cNvCxnSpPr>
            <a:cxnSpLocks/>
          </p:cNvCxnSpPr>
          <p:nvPr/>
        </p:nvCxnSpPr>
        <p:spPr>
          <a:xfrm>
            <a:off x="6849929" y="2441238"/>
            <a:ext cx="0" cy="321454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2629FED1-24D3-CD4F-38DF-801B01A3A883}"/>
              </a:ext>
            </a:extLst>
          </p:cNvPr>
          <p:cNvCxnSpPr>
            <a:cxnSpLocks/>
          </p:cNvCxnSpPr>
          <p:nvPr/>
        </p:nvCxnSpPr>
        <p:spPr>
          <a:xfrm>
            <a:off x="8335903" y="2441238"/>
            <a:ext cx="0" cy="321454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F71C83F2-8B9E-F134-9A70-76F116CB5A52}"/>
              </a:ext>
            </a:extLst>
          </p:cNvPr>
          <p:cNvCxnSpPr>
            <a:cxnSpLocks/>
          </p:cNvCxnSpPr>
          <p:nvPr/>
        </p:nvCxnSpPr>
        <p:spPr>
          <a:xfrm>
            <a:off x="9821877" y="2441238"/>
            <a:ext cx="0" cy="321454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BFBFA650-C4B1-E4A7-F755-C4A4F889DF95}"/>
              </a:ext>
            </a:extLst>
          </p:cNvPr>
          <p:cNvCxnSpPr>
            <a:cxnSpLocks/>
          </p:cNvCxnSpPr>
          <p:nvPr/>
        </p:nvCxnSpPr>
        <p:spPr>
          <a:xfrm>
            <a:off x="11307849" y="2441238"/>
            <a:ext cx="0" cy="321454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95B6A52-13DB-E62C-DBDE-0A7D988F1EAC}"/>
              </a:ext>
            </a:extLst>
          </p:cNvPr>
          <p:cNvSpPr txBox="1"/>
          <p:nvPr/>
        </p:nvSpPr>
        <p:spPr>
          <a:xfrm>
            <a:off x="10165158" y="1971584"/>
            <a:ext cx="79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7</a:t>
            </a:r>
            <a:r>
              <a:rPr lang="ja-JP" altLang="en-US" dirty="0"/>
              <a:t>日目</a:t>
            </a:r>
            <a:endParaRPr kumimoji="1" lang="ja-JP" altLang="en-US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70376EE9-C30C-76A5-3F81-29AB1DBE5D70}"/>
              </a:ext>
            </a:extLst>
          </p:cNvPr>
          <p:cNvSpPr txBox="1"/>
          <p:nvPr/>
        </p:nvSpPr>
        <p:spPr>
          <a:xfrm>
            <a:off x="1227432" y="1971584"/>
            <a:ext cx="79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1</a:t>
            </a:r>
            <a:r>
              <a:rPr lang="ja-JP" altLang="en-US" dirty="0"/>
              <a:t>日目</a:t>
            </a:r>
            <a:endParaRPr kumimoji="1" lang="ja-JP" altLang="en-US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5E8C222D-B8A9-537A-E791-3F1E99356DD4}"/>
              </a:ext>
            </a:extLst>
          </p:cNvPr>
          <p:cNvSpPr txBox="1"/>
          <p:nvPr/>
        </p:nvSpPr>
        <p:spPr>
          <a:xfrm>
            <a:off x="2717053" y="1971584"/>
            <a:ext cx="79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2</a:t>
            </a:r>
            <a:r>
              <a:rPr lang="ja-JP" altLang="en-US" dirty="0"/>
              <a:t>日目</a:t>
            </a:r>
            <a:endParaRPr kumimoji="1" lang="ja-JP" altLang="en-US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1CEF4BB-D427-ACE8-5B52-5D11B3F08FC3}"/>
              </a:ext>
            </a:extLst>
          </p:cNvPr>
          <p:cNvSpPr txBox="1"/>
          <p:nvPr/>
        </p:nvSpPr>
        <p:spPr>
          <a:xfrm>
            <a:off x="4206674" y="1971584"/>
            <a:ext cx="79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3</a:t>
            </a:r>
            <a:r>
              <a:rPr lang="ja-JP" altLang="en-US" dirty="0"/>
              <a:t>日目</a:t>
            </a:r>
            <a:endParaRPr kumimoji="1" lang="ja-JP" altLang="en-US" dirty="0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116BFA52-752B-9431-A211-A749958BDF82}"/>
              </a:ext>
            </a:extLst>
          </p:cNvPr>
          <p:cNvSpPr txBox="1"/>
          <p:nvPr/>
        </p:nvSpPr>
        <p:spPr>
          <a:xfrm>
            <a:off x="5696295" y="1971584"/>
            <a:ext cx="79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4</a:t>
            </a:r>
            <a:r>
              <a:rPr lang="ja-JP" altLang="en-US" dirty="0"/>
              <a:t>日目</a:t>
            </a:r>
            <a:endParaRPr kumimoji="1" lang="ja-JP" altLang="en-US" dirty="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1DCAC67A-4548-9D39-A1F8-B04BD8F74364}"/>
              </a:ext>
            </a:extLst>
          </p:cNvPr>
          <p:cNvSpPr txBox="1"/>
          <p:nvPr/>
        </p:nvSpPr>
        <p:spPr>
          <a:xfrm>
            <a:off x="7185916" y="1971584"/>
            <a:ext cx="79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5</a:t>
            </a:r>
            <a:r>
              <a:rPr lang="ja-JP" altLang="en-US" dirty="0"/>
              <a:t>日目</a:t>
            </a:r>
            <a:endParaRPr kumimoji="1" lang="ja-JP" altLang="en-US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C8022DB5-0F3F-BB7D-882E-CE80D67726B6}"/>
              </a:ext>
            </a:extLst>
          </p:cNvPr>
          <p:cNvSpPr txBox="1"/>
          <p:nvPr/>
        </p:nvSpPr>
        <p:spPr>
          <a:xfrm>
            <a:off x="8675537" y="1971584"/>
            <a:ext cx="79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6</a:t>
            </a:r>
            <a:r>
              <a:rPr lang="ja-JP" altLang="en-US" dirty="0"/>
              <a:t>日目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F63F4C2-5FB6-23C7-8A35-6C1056CB8DF4}"/>
              </a:ext>
            </a:extLst>
          </p:cNvPr>
          <p:cNvSpPr/>
          <p:nvPr/>
        </p:nvSpPr>
        <p:spPr>
          <a:xfrm>
            <a:off x="9821874" y="2997260"/>
            <a:ext cx="1485969" cy="49414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/>
              <a:t>発表準備</a:t>
            </a:r>
            <a:endParaRPr kumimoji="1" lang="ja-JP" altLang="en-US" sz="16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BEB32E1-C2F8-B8E3-3A49-0BAFBDB42EB0}"/>
              </a:ext>
            </a:extLst>
          </p:cNvPr>
          <p:cNvSpPr/>
          <p:nvPr/>
        </p:nvSpPr>
        <p:spPr>
          <a:xfrm>
            <a:off x="2366235" y="2997260"/>
            <a:ext cx="1532912" cy="49414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インフラ層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E22D71D-86A6-E887-A232-F36CAA329EEB}"/>
              </a:ext>
            </a:extLst>
          </p:cNvPr>
          <p:cNvSpPr/>
          <p:nvPr/>
        </p:nvSpPr>
        <p:spPr>
          <a:xfrm>
            <a:off x="906033" y="2997260"/>
            <a:ext cx="1456026" cy="4941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設計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0E60FAC-6FD8-8769-B3C2-21EFBC16710C}"/>
              </a:ext>
            </a:extLst>
          </p:cNvPr>
          <p:cNvSpPr txBox="1"/>
          <p:nvPr/>
        </p:nvSpPr>
        <p:spPr>
          <a:xfrm>
            <a:off x="-76140" y="2997260"/>
            <a:ext cx="1093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予定</a:t>
            </a:r>
            <a:endParaRPr kumimoji="1" lang="ja-JP" altLang="en-US" dirty="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B11907E8-D4B8-AE2B-A20A-7A7EA1167CEC}"/>
              </a:ext>
            </a:extLst>
          </p:cNvPr>
          <p:cNvSpPr/>
          <p:nvPr/>
        </p:nvSpPr>
        <p:spPr>
          <a:xfrm>
            <a:off x="3903323" y="2997260"/>
            <a:ext cx="734634" cy="49414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App</a:t>
            </a:r>
            <a:r>
              <a:rPr kumimoji="1" lang="ja-JP" altLang="en-US" sz="1400" dirty="0"/>
              <a:t>層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6CEBDFBA-6667-0C41-1ADB-F927404471B0}"/>
              </a:ext>
            </a:extLst>
          </p:cNvPr>
          <p:cNvSpPr/>
          <p:nvPr/>
        </p:nvSpPr>
        <p:spPr>
          <a:xfrm>
            <a:off x="4642133" y="2997260"/>
            <a:ext cx="730316" cy="4941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UI</a:t>
            </a:r>
            <a:r>
              <a:rPr kumimoji="1" lang="ja-JP" altLang="en-US" sz="1400" dirty="0"/>
              <a:t>層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C246A06A-57A1-81C2-0040-A5C373A0FCF1}"/>
              </a:ext>
            </a:extLst>
          </p:cNvPr>
          <p:cNvSpPr/>
          <p:nvPr/>
        </p:nvSpPr>
        <p:spPr>
          <a:xfrm>
            <a:off x="5376626" y="2997260"/>
            <a:ext cx="738955" cy="49414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テスト</a:t>
            </a:r>
            <a:endParaRPr kumimoji="1" lang="ja-JP" altLang="en-US" sz="1400" dirty="0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28997DD4-7E9A-F685-D5DD-D3DBC0422F4C}"/>
              </a:ext>
            </a:extLst>
          </p:cNvPr>
          <p:cNvSpPr/>
          <p:nvPr/>
        </p:nvSpPr>
        <p:spPr>
          <a:xfrm>
            <a:off x="6858568" y="2997260"/>
            <a:ext cx="760588" cy="49414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App</a:t>
            </a:r>
            <a:r>
              <a:rPr kumimoji="1" lang="ja-JP" altLang="en-US" sz="1400" dirty="0"/>
              <a:t>層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7EC03339-F044-592D-039D-50959518FFD4}"/>
              </a:ext>
            </a:extLst>
          </p:cNvPr>
          <p:cNvSpPr/>
          <p:nvPr/>
        </p:nvSpPr>
        <p:spPr>
          <a:xfrm>
            <a:off x="7628832" y="2997260"/>
            <a:ext cx="708103" cy="4941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UI</a:t>
            </a:r>
            <a:r>
              <a:rPr kumimoji="1" lang="ja-JP" altLang="en-US" sz="1400" dirty="0"/>
              <a:t>層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D7C748F6-C90B-BF89-6148-A7A53A86CEB9}"/>
              </a:ext>
            </a:extLst>
          </p:cNvPr>
          <p:cNvSpPr/>
          <p:nvPr/>
        </p:nvSpPr>
        <p:spPr>
          <a:xfrm>
            <a:off x="8346611" y="2997260"/>
            <a:ext cx="758515" cy="49414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テスト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15A9A2F-95F1-9267-DB92-16902C288E7B}"/>
              </a:ext>
            </a:extLst>
          </p:cNvPr>
          <p:cNvSpPr/>
          <p:nvPr/>
        </p:nvSpPr>
        <p:spPr>
          <a:xfrm>
            <a:off x="906034" y="4470634"/>
            <a:ext cx="2235440" cy="4941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設計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5EA72A9D-10CF-8AA2-7D15-0C8DC27C2821}"/>
              </a:ext>
            </a:extLst>
          </p:cNvPr>
          <p:cNvSpPr/>
          <p:nvPr/>
        </p:nvSpPr>
        <p:spPr>
          <a:xfrm>
            <a:off x="3139960" y="4470634"/>
            <a:ext cx="2244915" cy="49414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インフラ層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A689207F-76FE-3384-527F-91E780B6A77B}"/>
              </a:ext>
            </a:extLst>
          </p:cNvPr>
          <p:cNvSpPr/>
          <p:nvPr/>
        </p:nvSpPr>
        <p:spPr>
          <a:xfrm>
            <a:off x="5355316" y="4470634"/>
            <a:ext cx="734634" cy="49414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App</a:t>
            </a:r>
            <a:r>
              <a:rPr kumimoji="1" lang="ja-JP" altLang="en-US" sz="1400" dirty="0"/>
              <a:t>層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6359A8C4-5B62-369F-E1B9-331E3064FE93}"/>
              </a:ext>
            </a:extLst>
          </p:cNvPr>
          <p:cNvSpPr/>
          <p:nvPr/>
        </p:nvSpPr>
        <p:spPr>
          <a:xfrm>
            <a:off x="6089953" y="4470634"/>
            <a:ext cx="773323" cy="4941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UI</a:t>
            </a:r>
            <a:r>
              <a:rPr kumimoji="1" lang="ja-JP" altLang="en-US" sz="1400" dirty="0"/>
              <a:t>層</a:t>
            </a: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2E0BE3CE-1E04-A512-F624-3D39F20674AF}"/>
              </a:ext>
            </a:extLst>
          </p:cNvPr>
          <p:cNvSpPr/>
          <p:nvPr/>
        </p:nvSpPr>
        <p:spPr>
          <a:xfrm>
            <a:off x="6861764" y="4470634"/>
            <a:ext cx="738955" cy="49414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テスト</a:t>
            </a:r>
            <a:endParaRPr kumimoji="1" lang="ja-JP" altLang="en-US" sz="1400" dirty="0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3717FB94-D02C-B303-0063-51EE0EE18B9D}"/>
              </a:ext>
            </a:extLst>
          </p:cNvPr>
          <p:cNvSpPr/>
          <p:nvPr/>
        </p:nvSpPr>
        <p:spPr>
          <a:xfrm>
            <a:off x="7599206" y="4470634"/>
            <a:ext cx="760588" cy="49414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App</a:t>
            </a:r>
            <a:r>
              <a:rPr kumimoji="1" lang="ja-JP" altLang="en-US" sz="1400" dirty="0"/>
              <a:t>層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14EE499D-84CB-8223-4E92-994EE01C778B}"/>
              </a:ext>
            </a:extLst>
          </p:cNvPr>
          <p:cNvSpPr/>
          <p:nvPr/>
        </p:nvSpPr>
        <p:spPr>
          <a:xfrm>
            <a:off x="8358281" y="4470634"/>
            <a:ext cx="708103" cy="4941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UI</a:t>
            </a:r>
            <a:r>
              <a:rPr kumimoji="1" lang="ja-JP" altLang="en-US" sz="1400" dirty="0"/>
              <a:t>層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B3B443B6-6683-8F12-95B8-FFC665DA23BE}"/>
              </a:ext>
            </a:extLst>
          </p:cNvPr>
          <p:cNvSpPr/>
          <p:nvPr/>
        </p:nvSpPr>
        <p:spPr>
          <a:xfrm>
            <a:off x="9064871" y="4470634"/>
            <a:ext cx="967606" cy="49414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テスト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25CD03DD-90E1-B142-32F2-A3CD2F7BE48A}"/>
              </a:ext>
            </a:extLst>
          </p:cNvPr>
          <p:cNvSpPr/>
          <p:nvPr/>
        </p:nvSpPr>
        <p:spPr>
          <a:xfrm>
            <a:off x="10030966" y="4470634"/>
            <a:ext cx="1276877" cy="49414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/>
              <a:t>発表準備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058320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A9721A67-252E-B8BC-CD53-ADB1AF468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187" b="55493"/>
          <a:stretch>
            <a:fillRect/>
          </a:stretch>
        </p:blipFill>
        <p:spPr>
          <a:xfrm>
            <a:off x="5560998" y="1384645"/>
            <a:ext cx="6238405" cy="501408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6CDEA73B-576F-566C-A590-FB0FD4702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成果物の概要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364B6A-10A6-E9E0-5224-D53313796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ja-JP" altLang="en-US" dirty="0"/>
              <a:t>アプリ概要</a:t>
            </a:r>
            <a:endParaRPr lang="en-US" altLang="ja-JP" dirty="0"/>
          </a:p>
          <a:p>
            <a:pPr marL="457200" lvl="1" indent="0">
              <a:spcAft>
                <a:spcPts val="1200"/>
              </a:spcAft>
              <a:buNone/>
            </a:pPr>
            <a:r>
              <a:rPr lang="ja-JP" altLang="en-US" dirty="0"/>
              <a:t>従業員を管理するためのアプリケーション</a:t>
            </a:r>
            <a:endParaRPr lang="en-US" altLang="ja-JP" dirty="0"/>
          </a:p>
          <a:p>
            <a:pPr>
              <a:spcAft>
                <a:spcPts val="1200"/>
              </a:spcAft>
            </a:pPr>
            <a:r>
              <a:rPr lang="ja-JP" altLang="en-US" dirty="0"/>
              <a:t>機能一覧</a:t>
            </a:r>
            <a:endParaRPr lang="en-US" altLang="ja-JP" dirty="0"/>
          </a:p>
          <a:p>
            <a:pPr lvl="1">
              <a:spcAft>
                <a:spcPts val="1200"/>
              </a:spcAft>
            </a:pPr>
            <a:r>
              <a:rPr lang="ja-JP" altLang="en-US" dirty="0"/>
              <a:t>従業員登録機能</a:t>
            </a:r>
            <a:endParaRPr lang="en-US" altLang="ja-JP" dirty="0"/>
          </a:p>
          <a:p>
            <a:pPr lvl="1">
              <a:spcAft>
                <a:spcPts val="1200"/>
              </a:spcAft>
            </a:pPr>
            <a:r>
              <a:rPr lang="ja-JP" altLang="en-US" dirty="0"/>
              <a:t>従業員一覧機能</a:t>
            </a:r>
            <a:endParaRPr lang="en-US" altLang="ja-JP" dirty="0"/>
          </a:p>
          <a:p>
            <a:pPr lvl="1">
              <a:spcAft>
                <a:spcPts val="1200"/>
              </a:spcAft>
            </a:pPr>
            <a:r>
              <a:rPr lang="ja-JP" altLang="en-US" dirty="0"/>
              <a:t>部署登録機能</a:t>
            </a:r>
            <a:endParaRPr lang="en-US" altLang="ja-JP" dirty="0"/>
          </a:p>
          <a:p>
            <a:pPr lvl="1">
              <a:spcAft>
                <a:spcPts val="1200"/>
              </a:spcAft>
            </a:pPr>
            <a:r>
              <a:rPr lang="ja-JP" altLang="en-US" dirty="0"/>
              <a:t>部署一覧機能</a:t>
            </a:r>
            <a:endParaRPr lang="en-US" altLang="ja-JP" dirty="0"/>
          </a:p>
          <a:p>
            <a:pPr>
              <a:spcAft>
                <a:spcPts val="1200"/>
              </a:spcAft>
            </a:pPr>
            <a:r>
              <a:rPr lang="en-US" altLang="ja-JP" dirty="0"/>
              <a:t>DB</a:t>
            </a:r>
            <a:r>
              <a:rPr lang="ja-JP" altLang="en-US" dirty="0"/>
              <a:t>構成</a:t>
            </a:r>
            <a:endParaRPr lang="en-US" altLang="ja-JP" dirty="0"/>
          </a:p>
          <a:p>
            <a:pPr lvl="1">
              <a:spcAft>
                <a:spcPts val="1200"/>
              </a:spcAft>
            </a:pPr>
            <a:endParaRPr lang="en-US" altLang="ja-JP" dirty="0"/>
          </a:p>
          <a:p>
            <a:pPr>
              <a:spcAft>
                <a:spcPts val="1200"/>
              </a:spcAft>
            </a:pPr>
            <a:endParaRPr lang="en-US" altLang="ja-JP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BEC841A-C3C6-9E95-56B8-2E9919CA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F285-7DC3-4F9C-8E53-6893EECBFE42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439FBA8-3E08-B02D-1C70-F8879629BBEA}"/>
              </a:ext>
            </a:extLst>
          </p:cNvPr>
          <p:cNvSpPr txBox="1"/>
          <p:nvPr/>
        </p:nvSpPr>
        <p:spPr>
          <a:xfrm>
            <a:off x="7708210" y="6155605"/>
            <a:ext cx="229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＜</a:t>
            </a:r>
            <a:r>
              <a:rPr kumimoji="1" lang="en-US" altLang="ja-JP" dirty="0"/>
              <a:t>ER</a:t>
            </a:r>
            <a:r>
              <a:rPr kumimoji="1" lang="ja-JP" altLang="en-US" dirty="0"/>
              <a:t>図＞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36F9706-DA3C-D771-98D4-D26855D8842F}"/>
              </a:ext>
            </a:extLst>
          </p:cNvPr>
          <p:cNvSpPr txBox="1"/>
          <p:nvPr/>
        </p:nvSpPr>
        <p:spPr>
          <a:xfrm>
            <a:off x="5685100" y="4381269"/>
            <a:ext cx="229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部署マスタ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29CE562-8695-ED31-0301-C65F7B28EC2D}"/>
              </a:ext>
            </a:extLst>
          </p:cNvPr>
          <p:cNvSpPr txBox="1"/>
          <p:nvPr/>
        </p:nvSpPr>
        <p:spPr>
          <a:xfrm>
            <a:off x="8743950" y="4381269"/>
            <a:ext cx="229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雇用形態マスタ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8FDBA9D-A3C0-5703-8E99-E2B2F12142A7}"/>
              </a:ext>
            </a:extLst>
          </p:cNvPr>
          <p:cNvSpPr txBox="1"/>
          <p:nvPr/>
        </p:nvSpPr>
        <p:spPr>
          <a:xfrm>
            <a:off x="8743950" y="1441791"/>
            <a:ext cx="229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従業員データ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85200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4A8A8AE7-193F-4ED4-78E9-28916AE6950F}"/>
              </a:ext>
            </a:extLst>
          </p:cNvPr>
          <p:cNvSpPr/>
          <p:nvPr/>
        </p:nvSpPr>
        <p:spPr>
          <a:xfrm>
            <a:off x="838200" y="3669466"/>
            <a:ext cx="3301602" cy="2729264"/>
          </a:xfrm>
          <a:prstGeom prst="roundRect">
            <a:avLst>
              <a:gd name="adj" fmla="val 8263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C08564AD-C382-4E95-07D2-3CFAC692A879}"/>
              </a:ext>
            </a:extLst>
          </p:cNvPr>
          <p:cNvSpPr/>
          <p:nvPr/>
        </p:nvSpPr>
        <p:spPr>
          <a:xfrm>
            <a:off x="4299011" y="3669466"/>
            <a:ext cx="2222881" cy="2729264"/>
          </a:xfrm>
          <a:prstGeom prst="roundRect">
            <a:avLst>
              <a:gd name="adj" fmla="val 6066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1C7466B5-E23B-9CE8-3F7F-BF98B51E6786}"/>
              </a:ext>
            </a:extLst>
          </p:cNvPr>
          <p:cNvSpPr/>
          <p:nvPr/>
        </p:nvSpPr>
        <p:spPr>
          <a:xfrm>
            <a:off x="6670901" y="3669466"/>
            <a:ext cx="3785682" cy="2729264"/>
          </a:xfrm>
          <a:prstGeom prst="roundRect">
            <a:avLst>
              <a:gd name="adj" fmla="val 4729"/>
            </a:avLst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08303EB-13C8-D8AE-A86B-4A46E1448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使用</a:t>
            </a:r>
            <a:r>
              <a:rPr kumimoji="1" lang="ja-JP" altLang="en-US" dirty="0"/>
              <a:t>技術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93A1CB-1D47-42E0-39E4-5DAA006E8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250"/>
            <a:ext cx="10515600" cy="5014085"/>
          </a:xfrm>
        </p:spPr>
        <p:txBody>
          <a:bodyPr/>
          <a:lstStyle/>
          <a:p>
            <a:r>
              <a:rPr lang="ja-JP" altLang="en-US" sz="2400" dirty="0"/>
              <a:t>言語</a:t>
            </a:r>
            <a:r>
              <a:rPr lang="en-US" altLang="ja-JP" sz="2400" dirty="0"/>
              <a:t>	</a:t>
            </a:r>
            <a:r>
              <a:rPr lang="ja-JP" altLang="en-US" sz="2400" dirty="0"/>
              <a:t>：</a:t>
            </a:r>
            <a:r>
              <a:rPr lang="en-US" altLang="ja-JP" sz="2400" dirty="0"/>
              <a:t>C</a:t>
            </a:r>
            <a:r>
              <a:rPr lang="ja-JP" altLang="en-US" sz="2400" dirty="0"/>
              <a:t>＃</a:t>
            </a:r>
            <a:endParaRPr lang="en-US" altLang="ja-JP" sz="2400" dirty="0"/>
          </a:p>
          <a:p>
            <a:r>
              <a:rPr lang="ja-JP" altLang="en-US" sz="2400" dirty="0"/>
              <a:t>フレームワーク：</a:t>
            </a:r>
            <a:r>
              <a:rPr lang="en-US" altLang="ja-JP" sz="2400" dirty="0"/>
              <a:t>ASP.NET Core</a:t>
            </a:r>
          </a:p>
          <a:p>
            <a:r>
              <a:rPr lang="en-US" altLang="ja-JP" sz="2400" dirty="0"/>
              <a:t>DB</a:t>
            </a:r>
            <a:r>
              <a:rPr lang="ja-JP" altLang="en-US" sz="2400" dirty="0"/>
              <a:t>：</a:t>
            </a:r>
            <a:r>
              <a:rPr lang="en-US" altLang="ja-JP" sz="2400" dirty="0"/>
              <a:t>PostgreSQL</a:t>
            </a:r>
          </a:p>
          <a:p>
            <a:r>
              <a:rPr lang="en-US" altLang="ja-JP" sz="2400" dirty="0"/>
              <a:t>DB</a:t>
            </a:r>
            <a:r>
              <a:rPr lang="ja-JP" altLang="en-US" sz="2400" dirty="0"/>
              <a:t>操作：</a:t>
            </a:r>
            <a:r>
              <a:rPr lang="en-US" altLang="ja-JP" sz="2400" dirty="0"/>
              <a:t>C</a:t>
            </a:r>
            <a:r>
              <a:rPr lang="ja-JP" altLang="en-US" sz="2400" dirty="0"/>
              <a:t>＃ </a:t>
            </a:r>
            <a:r>
              <a:rPr lang="en-US" altLang="ja-JP" sz="2400" dirty="0"/>
              <a:t>Entity Framework Core</a:t>
            </a:r>
          </a:p>
          <a:p>
            <a:r>
              <a:rPr lang="ja-JP" altLang="en-US" sz="2400" dirty="0"/>
              <a:t>アーキテクチャ：レイヤードアーキテクチャ</a:t>
            </a:r>
            <a:endParaRPr lang="en-US" altLang="ja-JP" sz="2400" dirty="0"/>
          </a:p>
          <a:p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8E0B580-4AA1-798A-50D6-FDF9AD174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F285-7DC3-4F9C-8E53-6893EECBFE42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0F35FED-C140-E628-8E12-A281691B4090}"/>
              </a:ext>
            </a:extLst>
          </p:cNvPr>
          <p:cNvSpPr/>
          <p:nvPr/>
        </p:nvSpPr>
        <p:spPr>
          <a:xfrm>
            <a:off x="8712303" y="4167686"/>
            <a:ext cx="1561504" cy="640080"/>
          </a:xfrm>
          <a:prstGeom prst="roundRect">
            <a:avLst/>
          </a:prstGeom>
          <a:solidFill>
            <a:schemeClr val="bg1">
              <a:alpha val="94000"/>
            </a:schemeClr>
          </a:solidFill>
          <a:ln w="63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AppDbContext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9" name="グラフィックス 8" descr="データベース 枠線">
            <a:extLst>
              <a:ext uri="{FF2B5EF4-FFF2-40B4-BE49-F238E27FC236}">
                <a16:creationId xmlns:a16="http://schemas.microsoft.com/office/drawing/2014/main" id="{60813A6C-0AB3-8DED-9E6B-708E8B34D2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3398" y="3831426"/>
            <a:ext cx="1088832" cy="1088832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A1403B5-6E06-717D-0DD1-FA81E989D63A}"/>
              </a:ext>
            </a:extLst>
          </p:cNvPr>
          <p:cNvSpPr/>
          <p:nvPr/>
        </p:nvSpPr>
        <p:spPr>
          <a:xfrm>
            <a:off x="6973492" y="4167686"/>
            <a:ext cx="1341580" cy="640080"/>
          </a:xfrm>
          <a:prstGeom prst="roundRect">
            <a:avLst/>
          </a:prstGeom>
          <a:solidFill>
            <a:schemeClr val="bg1">
              <a:alpha val="94000"/>
            </a:schemeClr>
          </a:solidFill>
          <a:ln w="63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Repository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25DF504-EA89-CCF1-AB74-DDE3E8296BE0}"/>
              </a:ext>
            </a:extLst>
          </p:cNvPr>
          <p:cNvSpPr/>
          <p:nvPr/>
        </p:nvSpPr>
        <p:spPr>
          <a:xfrm>
            <a:off x="4721498" y="4167686"/>
            <a:ext cx="1341580" cy="640080"/>
          </a:xfrm>
          <a:prstGeom prst="roundRect">
            <a:avLst/>
          </a:prstGeom>
          <a:solidFill>
            <a:schemeClr val="bg1">
              <a:alpha val="94000"/>
            </a:schemeClr>
          </a:solidFill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Service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A288917-2727-12C5-F6B0-B57229CB9A4A}"/>
              </a:ext>
            </a:extLst>
          </p:cNvPr>
          <p:cNvSpPr/>
          <p:nvPr/>
        </p:nvSpPr>
        <p:spPr>
          <a:xfrm>
            <a:off x="2557325" y="4167686"/>
            <a:ext cx="1341580" cy="640080"/>
          </a:xfrm>
          <a:prstGeom prst="roundRect">
            <a:avLst/>
          </a:prstGeom>
          <a:solidFill>
            <a:schemeClr val="bg1">
              <a:alpha val="94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Controller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98FF23AA-45E5-FBD8-1CC6-65B121A49E55}"/>
              </a:ext>
            </a:extLst>
          </p:cNvPr>
          <p:cNvSpPr/>
          <p:nvPr/>
        </p:nvSpPr>
        <p:spPr>
          <a:xfrm>
            <a:off x="977757" y="4167686"/>
            <a:ext cx="1341580" cy="640080"/>
          </a:xfrm>
          <a:prstGeom prst="roundRect">
            <a:avLst/>
          </a:prstGeom>
          <a:solidFill>
            <a:schemeClr val="bg1">
              <a:alpha val="94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View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89F69881-2873-A95F-76DC-C423C9846514}"/>
              </a:ext>
            </a:extLst>
          </p:cNvPr>
          <p:cNvSpPr/>
          <p:nvPr/>
        </p:nvSpPr>
        <p:spPr>
          <a:xfrm>
            <a:off x="6954529" y="5480894"/>
            <a:ext cx="1341580" cy="640080"/>
          </a:xfrm>
          <a:prstGeom prst="roundRect">
            <a:avLst/>
          </a:prstGeom>
          <a:solidFill>
            <a:schemeClr val="bg1">
              <a:alpha val="94000"/>
            </a:schemeClr>
          </a:solidFill>
          <a:ln w="63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Adapter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E53C03E-E9C4-D52A-B4F2-16FA86DFD908}"/>
              </a:ext>
            </a:extLst>
          </p:cNvPr>
          <p:cNvSpPr/>
          <p:nvPr/>
        </p:nvSpPr>
        <p:spPr>
          <a:xfrm>
            <a:off x="2557325" y="5480894"/>
            <a:ext cx="1341580" cy="640080"/>
          </a:xfrm>
          <a:prstGeom prst="roundRect">
            <a:avLst/>
          </a:prstGeom>
          <a:solidFill>
            <a:schemeClr val="bg1">
              <a:alpha val="94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Adapter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B82E0EB-8A4B-DED0-44DA-A42892EEA6DB}"/>
              </a:ext>
            </a:extLst>
          </p:cNvPr>
          <p:cNvCxnSpPr/>
          <p:nvPr/>
        </p:nvCxnSpPr>
        <p:spPr>
          <a:xfrm>
            <a:off x="3460283" y="4807766"/>
            <a:ext cx="0" cy="673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C2F60C3B-2C53-FA01-C130-D9E03B561D82}"/>
              </a:ext>
            </a:extLst>
          </p:cNvPr>
          <p:cNvCxnSpPr>
            <a:cxnSpLocks/>
          </p:cNvCxnSpPr>
          <p:nvPr/>
        </p:nvCxnSpPr>
        <p:spPr>
          <a:xfrm flipV="1">
            <a:off x="2932382" y="4807766"/>
            <a:ext cx="0" cy="673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FC910A1B-C7A4-B08A-5BF6-9A56CC365B59}"/>
              </a:ext>
            </a:extLst>
          </p:cNvPr>
          <p:cNvCxnSpPr/>
          <p:nvPr/>
        </p:nvCxnSpPr>
        <p:spPr>
          <a:xfrm>
            <a:off x="7892795" y="4807766"/>
            <a:ext cx="0" cy="673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938AE8EF-C856-E46D-A3CB-7CD946830F3A}"/>
              </a:ext>
            </a:extLst>
          </p:cNvPr>
          <p:cNvCxnSpPr>
            <a:cxnSpLocks/>
          </p:cNvCxnSpPr>
          <p:nvPr/>
        </p:nvCxnSpPr>
        <p:spPr>
          <a:xfrm flipV="1">
            <a:off x="7364894" y="4807766"/>
            <a:ext cx="0" cy="673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6FCBE8F-5413-DB96-4E53-299079DD7582}"/>
              </a:ext>
            </a:extLst>
          </p:cNvPr>
          <p:cNvSpPr txBox="1"/>
          <p:nvPr/>
        </p:nvSpPr>
        <p:spPr>
          <a:xfrm>
            <a:off x="1210388" y="3718086"/>
            <a:ext cx="2557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プレゼンテーション層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26C5867-BF09-773B-D269-406E11FDA427}"/>
              </a:ext>
            </a:extLst>
          </p:cNvPr>
          <p:cNvSpPr txBox="1"/>
          <p:nvPr/>
        </p:nvSpPr>
        <p:spPr>
          <a:xfrm>
            <a:off x="4113675" y="3718086"/>
            <a:ext cx="2557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アプリケーション層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E60849A-28C1-8C24-4415-5F787C5DB22E}"/>
              </a:ext>
            </a:extLst>
          </p:cNvPr>
          <p:cNvSpPr txBox="1"/>
          <p:nvPr/>
        </p:nvSpPr>
        <p:spPr>
          <a:xfrm>
            <a:off x="7042377" y="3718086"/>
            <a:ext cx="2891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インフラストラクチャ層</a:t>
            </a:r>
            <a:endParaRPr kumimoji="1" lang="ja-JP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21BA30B-2F8E-CAAF-2523-E4FBE25EA494}"/>
              </a:ext>
            </a:extLst>
          </p:cNvPr>
          <p:cNvSpPr txBox="1"/>
          <p:nvPr/>
        </p:nvSpPr>
        <p:spPr>
          <a:xfrm>
            <a:off x="10161915" y="4778761"/>
            <a:ext cx="229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DB</a:t>
            </a:r>
            <a:endParaRPr kumimoji="1" lang="ja-JP" altLang="en-US" dirty="0"/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57EB89FF-4223-545E-D0F6-F3D9530E8AD7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2319337" y="4487726"/>
            <a:ext cx="23798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53527750-67E9-0351-85AF-C5467E647D8D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3898905" y="4487726"/>
            <a:ext cx="82259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2BF83EC5-AE64-9C33-D79A-2FD721EA59ED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flipH="1">
            <a:off x="6063078" y="4487726"/>
            <a:ext cx="91041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DFD8C706-9EE2-29C2-5F90-8FD01B5C2CA1}"/>
              </a:ext>
            </a:extLst>
          </p:cNvPr>
          <p:cNvCxnSpPr>
            <a:cxnSpLocks/>
            <a:stCxn id="7" idx="1"/>
            <a:endCxn id="10" idx="3"/>
          </p:cNvCxnSpPr>
          <p:nvPr/>
        </p:nvCxnSpPr>
        <p:spPr>
          <a:xfrm flipH="1">
            <a:off x="8315072" y="4487726"/>
            <a:ext cx="39723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15988C51-62A1-3089-9B50-6DA532FC7B69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10273807" y="4487726"/>
            <a:ext cx="61830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EA41D653-FDF8-77EC-5CD2-3B8EEFEA1F08}"/>
              </a:ext>
            </a:extLst>
          </p:cNvPr>
          <p:cNvSpPr txBox="1"/>
          <p:nvPr/>
        </p:nvSpPr>
        <p:spPr>
          <a:xfrm>
            <a:off x="4817387" y="6413036"/>
            <a:ext cx="2557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&lt;</a:t>
            </a:r>
            <a:r>
              <a:rPr lang="ja-JP" altLang="en-US" dirty="0"/>
              <a:t>アーキテクチャ図</a:t>
            </a:r>
            <a:r>
              <a:rPr lang="en-US" altLang="ja-JP" dirty="0"/>
              <a:t>&gt;</a:t>
            </a:r>
            <a:endParaRPr kumimoji="1" lang="ja-JP" altLang="en-US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80281970-73C4-1492-368F-828101F7A905}"/>
              </a:ext>
            </a:extLst>
          </p:cNvPr>
          <p:cNvSpPr txBox="1"/>
          <p:nvPr/>
        </p:nvSpPr>
        <p:spPr>
          <a:xfrm>
            <a:off x="6665733" y="4938594"/>
            <a:ext cx="73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Entity</a:t>
            </a:r>
            <a:endParaRPr kumimoji="1" lang="ja-JP" altLang="en-US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56FB54AF-EB89-794F-1EAD-186AE7F3E74F}"/>
              </a:ext>
            </a:extLst>
          </p:cNvPr>
          <p:cNvSpPr txBox="1"/>
          <p:nvPr/>
        </p:nvSpPr>
        <p:spPr>
          <a:xfrm>
            <a:off x="7756297" y="4938594"/>
            <a:ext cx="1781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 err="1"/>
              <a:t>DomainObject</a:t>
            </a:r>
            <a:endParaRPr kumimoji="1" lang="ja-JP" altLang="en-US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C62EBCEB-F3A5-3119-FC89-0F04A2184F79}"/>
              </a:ext>
            </a:extLst>
          </p:cNvPr>
          <p:cNvSpPr txBox="1"/>
          <p:nvPr/>
        </p:nvSpPr>
        <p:spPr>
          <a:xfrm>
            <a:off x="1613609" y="4938594"/>
            <a:ext cx="1341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 err="1"/>
              <a:t>ViewModel</a:t>
            </a:r>
            <a:endParaRPr kumimoji="1" lang="ja-JP" altLang="en-US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E8354C3A-3793-F530-35C7-762E0A1F26DE}"/>
              </a:ext>
            </a:extLst>
          </p:cNvPr>
          <p:cNvSpPr txBox="1"/>
          <p:nvPr/>
        </p:nvSpPr>
        <p:spPr>
          <a:xfrm>
            <a:off x="3314237" y="4938594"/>
            <a:ext cx="1781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 err="1"/>
              <a:t>DomainObject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90603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D0F7DA-04D4-5866-00CC-65005799D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従業員</a:t>
            </a:r>
            <a:r>
              <a:rPr kumimoji="1" lang="ja-JP" altLang="en-US" dirty="0"/>
              <a:t>登録機能 </a:t>
            </a:r>
            <a:r>
              <a:rPr lang="en-US" altLang="ja-JP" dirty="0"/>
              <a:t>-</a:t>
            </a:r>
            <a:r>
              <a:rPr kumimoji="1" lang="en-US" altLang="ja-JP" dirty="0"/>
              <a:t> </a:t>
            </a:r>
            <a:r>
              <a:rPr lang="ja-JP" altLang="en-US" dirty="0"/>
              <a:t>入力画面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3E0164-3A43-785B-0D02-C4AA00E37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氏名とメールアドレスの未入力は不可。アラートを表示させる。</a:t>
            </a:r>
            <a:endParaRPr lang="en-US" altLang="ja-JP" dirty="0"/>
          </a:p>
          <a:p>
            <a:r>
              <a:rPr lang="ja-JP" altLang="en-US" dirty="0"/>
              <a:t>所属部署と雇用形態の未選択を可能にする。</a:t>
            </a:r>
            <a:endParaRPr lang="en-US" altLang="ja-JP" dirty="0"/>
          </a:p>
          <a:p>
            <a:pPr lvl="1"/>
            <a:endParaRPr lang="en-US" altLang="ja-JP" dirty="0"/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29508025-BFA3-4521-F8AC-E6325089C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F285-7DC3-4F9C-8E53-6893EECBFE42}" type="slidenum">
              <a:rPr kumimoji="1" lang="ja-JP" altLang="en-US" smtClean="0"/>
              <a:t>5</a:t>
            </a:fld>
            <a:endParaRPr kumimoji="1" lang="ja-JP" alt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38614831-101A-F19D-0C0E-6DA41B87E2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" t="12790" r="1245" b="1662"/>
          <a:stretch>
            <a:fillRect/>
          </a:stretch>
        </p:blipFill>
        <p:spPr>
          <a:xfrm>
            <a:off x="2404711" y="2348948"/>
            <a:ext cx="7382577" cy="4049782"/>
          </a:xfrm>
          <a:prstGeom prst="rect">
            <a:avLst/>
          </a:prstGeom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B9F6F683-F9C2-8006-B26B-F15EBF6FD233}"/>
              </a:ext>
            </a:extLst>
          </p:cNvPr>
          <p:cNvSpPr/>
          <p:nvPr/>
        </p:nvSpPr>
        <p:spPr>
          <a:xfrm>
            <a:off x="8850813" y="3525252"/>
            <a:ext cx="2502985" cy="1633889"/>
          </a:xfrm>
          <a:prstGeom prst="roundRect">
            <a:avLst>
              <a:gd name="adj" fmla="val 842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ViewModel</a:t>
            </a:r>
            <a:r>
              <a:rPr lang="ja-JP" altLang="en-US" dirty="0">
                <a:solidFill>
                  <a:schemeClr val="tx1"/>
                </a:solidFill>
              </a:rPr>
              <a:t>における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DataAnotation</a:t>
            </a:r>
            <a:r>
              <a:rPr kumimoji="1" lang="ja-JP" altLang="en-US" dirty="0">
                <a:solidFill>
                  <a:schemeClr val="tx1"/>
                </a:solidFill>
              </a:rPr>
              <a:t>で実装</a:t>
            </a:r>
          </a:p>
        </p:txBody>
      </p:sp>
      <p:sp>
        <p:nvSpPr>
          <p:cNvPr id="19" name="二等辺三角形 18">
            <a:extLst>
              <a:ext uri="{FF2B5EF4-FFF2-40B4-BE49-F238E27FC236}">
                <a16:creationId xmlns:a16="http://schemas.microsoft.com/office/drawing/2014/main" id="{0283B73C-BAD0-78D2-885F-B0E0D5A97DCE}"/>
              </a:ext>
            </a:extLst>
          </p:cNvPr>
          <p:cNvSpPr/>
          <p:nvPr/>
        </p:nvSpPr>
        <p:spPr>
          <a:xfrm rot="16200000">
            <a:off x="8513737" y="3875371"/>
            <a:ext cx="327259" cy="606391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0410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11815-FCFD-1E09-3251-1A7DA0CBD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B30244-2F90-1166-C088-054330ADE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従業員登録機能 </a:t>
            </a:r>
            <a:r>
              <a:rPr kumimoji="1" lang="en-US" altLang="ja-JP" dirty="0"/>
              <a:t>- </a:t>
            </a:r>
            <a:r>
              <a:rPr kumimoji="1" lang="ja-JP" altLang="en-US" dirty="0"/>
              <a:t>確認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56C060-DAB8-1FA4-0142-E25B157F0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入力内容</a:t>
            </a:r>
            <a:r>
              <a:rPr kumimoji="1" lang="ja-JP" altLang="en-US" dirty="0"/>
              <a:t>を表示する。</a:t>
            </a:r>
            <a:endParaRPr kumimoji="1" lang="en-US" altLang="ja-JP" dirty="0"/>
          </a:p>
          <a:p>
            <a:r>
              <a:rPr lang="ja-JP" altLang="en-US" dirty="0"/>
              <a:t>未選択項目について</a:t>
            </a:r>
            <a:r>
              <a:rPr lang="en-US" altLang="ja-JP" dirty="0"/>
              <a:t>Warning</a:t>
            </a:r>
            <a:r>
              <a:rPr lang="ja-JP" altLang="en-US" dirty="0"/>
              <a:t>を表示させる。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914B081-DBF4-7321-DFCD-021A9C553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F285-7DC3-4F9C-8E53-6893EECBFE42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18B1B52-C107-3E9F-44CA-4497C53D17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" t="12790" r="402" b="1662"/>
          <a:stretch>
            <a:fillRect/>
          </a:stretch>
        </p:blipFill>
        <p:spPr>
          <a:xfrm>
            <a:off x="2380047" y="2406597"/>
            <a:ext cx="7431906" cy="4038721"/>
          </a:xfrm>
          <a:prstGeom prst="rect">
            <a:avLst/>
          </a:prstGeom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4186F62-462C-2E76-B894-562C7CCDF15C}"/>
              </a:ext>
            </a:extLst>
          </p:cNvPr>
          <p:cNvSpPr/>
          <p:nvPr/>
        </p:nvSpPr>
        <p:spPr>
          <a:xfrm>
            <a:off x="8850815" y="2637323"/>
            <a:ext cx="2502985" cy="2521818"/>
          </a:xfrm>
          <a:prstGeom prst="roundRect">
            <a:avLst>
              <a:gd name="adj" fmla="val 842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Controller</a:t>
            </a:r>
            <a:r>
              <a:rPr kumimoji="1" lang="ja-JP" altLang="en-US" dirty="0">
                <a:solidFill>
                  <a:schemeClr val="tx1"/>
                </a:solidFill>
              </a:rPr>
              <a:t>で検知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↓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ViewModel</a:t>
            </a:r>
            <a:r>
              <a:rPr kumimoji="1" lang="ja-JP" altLang="en-US" dirty="0">
                <a:solidFill>
                  <a:schemeClr val="tx1"/>
                </a:solidFill>
              </a:rPr>
              <a:t>の</a:t>
            </a:r>
            <a:r>
              <a:rPr lang="en-US" altLang="ja-JP" dirty="0">
                <a:solidFill>
                  <a:schemeClr val="tx1"/>
                </a:solidFill>
              </a:rPr>
              <a:t>Warning</a:t>
            </a:r>
            <a:r>
              <a:rPr kumimoji="1" lang="ja-JP" altLang="en-US" dirty="0">
                <a:solidFill>
                  <a:schemeClr val="tx1"/>
                </a:solidFill>
              </a:rPr>
              <a:t>プロパティをセット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↓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View</a:t>
            </a:r>
            <a:r>
              <a:rPr lang="ja-JP" altLang="en-US" dirty="0">
                <a:solidFill>
                  <a:schemeClr val="tx1"/>
                </a:solidFill>
              </a:rPr>
              <a:t>で表示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E29D6D1E-7F74-B81B-2259-E11D850CC975}"/>
              </a:ext>
            </a:extLst>
          </p:cNvPr>
          <p:cNvSpPr/>
          <p:nvPr/>
        </p:nvSpPr>
        <p:spPr>
          <a:xfrm rot="16200000">
            <a:off x="8513737" y="3875371"/>
            <a:ext cx="327259" cy="606391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384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F811B-ED9A-DCC2-D6D2-DD1CCCB0E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E54D57-E15A-8A94-C510-2FB6E677B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従業員登録機能 </a:t>
            </a:r>
            <a:r>
              <a:rPr lang="en-US" altLang="ja-JP" dirty="0"/>
              <a:t>-</a:t>
            </a:r>
            <a:r>
              <a:rPr kumimoji="1" lang="en-US" altLang="ja-JP" dirty="0"/>
              <a:t> </a:t>
            </a:r>
            <a:r>
              <a:rPr lang="ja-JP" altLang="en-US" dirty="0"/>
              <a:t>完了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9ADA13-8F51-C0F7-37DD-1A3F57ADF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登録内容を表示する。</a:t>
            </a:r>
            <a:endParaRPr lang="en-US" altLang="ja-JP" dirty="0"/>
          </a:p>
          <a:p>
            <a:r>
              <a:rPr lang="ja-JP" altLang="en-US" dirty="0"/>
              <a:t>入力画面およびメニュー画面への遷移ボタンを表示する。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299104-9D7B-D41E-F85C-CCEAC32C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F285-7DC3-4F9C-8E53-6893EECBFE42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CA6B844-DE67-1AB6-BE86-9D61F4CC0F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6" t="12790" r="830" b="962"/>
          <a:stretch>
            <a:fillRect/>
          </a:stretch>
        </p:blipFill>
        <p:spPr>
          <a:xfrm>
            <a:off x="2311157" y="2336822"/>
            <a:ext cx="7569686" cy="4183361"/>
          </a:xfrm>
          <a:prstGeom prst="rect">
            <a:avLst/>
          </a:prstGeom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4985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E9459-FED2-AED0-FFA0-8757628E7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B6B125-C6D4-1FD8-40C3-D6BE7514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従業員登録機能 </a:t>
            </a:r>
            <a:r>
              <a:rPr lang="en-US" altLang="ja-JP" dirty="0"/>
              <a:t>-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メールアドレス重複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AC948A-ABB4-D0C9-D761-2216B5A0D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Email</a:t>
            </a:r>
            <a:r>
              <a:rPr kumimoji="1" lang="ja-JP" altLang="en-US" dirty="0"/>
              <a:t>アドレスが重複していると確認画面から入力画面に遷移しアラートを表示させる。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471E41C-324F-D465-4176-BA5CB230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F285-7DC3-4F9C-8E53-6893EECBFE42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7213200-990C-EF44-4C44-779A5CD1D7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" t="12790" r="294" b="1662"/>
          <a:stretch>
            <a:fillRect/>
          </a:stretch>
        </p:blipFill>
        <p:spPr>
          <a:xfrm>
            <a:off x="2131155" y="2241602"/>
            <a:ext cx="7929690" cy="4318500"/>
          </a:xfrm>
          <a:prstGeom prst="rect">
            <a:avLst/>
          </a:prstGeom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FF7BC1A-84B5-4E7D-7AA3-01F2F9B3D60C}"/>
              </a:ext>
            </a:extLst>
          </p:cNvPr>
          <p:cNvSpPr/>
          <p:nvPr/>
        </p:nvSpPr>
        <p:spPr>
          <a:xfrm>
            <a:off x="8850815" y="2637323"/>
            <a:ext cx="2502985" cy="2521818"/>
          </a:xfrm>
          <a:prstGeom prst="roundRect">
            <a:avLst>
              <a:gd name="adj" fmla="val 842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Service</a:t>
            </a:r>
            <a:r>
              <a:rPr kumimoji="1" lang="ja-JP" altLang="en-US" dirty="0">
                <a:solidFill>
                  <a:schemeClr val="tx1"/>
                </a:solidFill>
              </a:rPr>
              <a:t>で検知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例外をスロー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↓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Controller</a:t>
            </a:r>
            <a:r>
              <a:rPr lang="ja-JP" altLang="en-US" dirty="0">
                <a:solidFill>
                  <a:schemeClr val="tx1"/>
                </a:solidFill>
              </a:rPr>
              <a:t>でキャッチ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TempData</a:t>
            </a:r>
            <a:r>
              <a:rPr lang="ja-JP" altLang="en-US" dirty="0">
                <a:solidFill>
                  <a:schemeClr val="tx1"/>
                </a:solidFill>
              </a:rPr>
              <a:t>に格納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↓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View</a:t>
            </a:r>
            <a:r>
              <a:rPr lang="ja-JP" altLang="en-US" dirty="0">
                <a:solidFill>
                  <a:schemeClr val="tx1"/>
                </a:solidFill>
              </a:rPr>
              <a:t>で表示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99F87C7D-B89E-6594-E1B1-CD35D167258A}"/>
              </a:ext>
            </a:extLst>
          </p:cNvPr>
          <p:cNvSpPr/>
          <p:nvPr/>
        </p:nvSpPr>
        <p:spPr>
          <a:xfrm rot="16200000">
            <a:off x="8513737" y="3875371"/>
            <a:ext cx="327259" cy="606391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913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C37A76-9F95-BE2A-A7AE-6D7CD309E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従業員一覧機能</a:t>
            </a:r>
            <a:endParaRPr kumimoji="1" lang="ja-JP" altLang="en-US" dirty="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244F2844-2688-752A-9188-3FBE318D3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878"/>
            <a:ext cx="10515600" cy="5014085"/>
          </a:xfrm>
        </p:spPr>
        <p:txBody>
          <a:bodyPr/>
          <a:lstStyle/>
          <a:p>
            <a:r>
              <a:rPr kumimoji="1" lang="ja-JP" altLang="en-US" dirty="0"/>
              <a:t>登録された従業員リス</a:t>
            </a:r>
            <a:r>
              <a:rPr lang="ja-JP" altLang="en-US" dirty="0"/>
              <a:t>トを表形式で表示する。</a:t>
            </a:r>
            <a:endParaRPr lang="en-US" altLang="ja-JP" dirty="0"/>
          </a:p>
          <a:p>
            <a:r>
              <a:rPr lang="ja-JP" altLang="en-US" dirty="0"/>
              <a:t>所属部署と雇用形態が未選択の場合</a:t>
            </a:r>
            <a:r>
              <a:rPr lang="en-US" altLang="ja-JP" dirty="0"/>
              <a:t>”-”</a:t>
            </a:r>
            <a:r>
              <a:rPr lang="ja-JP" altLang="en-US" dirty="0"/>
              <a:t>を表示</a:t>
            </a:r>
            <a:endParaRPr lang="en-US" altLang="ja-JP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82426D2C-8E6D-1784-FCC2-1E398181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F285-7DC3-4F9C-8E53-6893EECBFE42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96A364D-231D-E65D-FC85-D5194F9C64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" t="12040" r="494" b="1941"/>
          <a:stretch>
            <a:fillRect/>
          </a:stretch>
        </p:blipFill>
        <p:spPr>
          <a:xfrm>
            <a:off x="2389696" y="2386201"/>
            <a:ext cx="7412609" cy="4059117"/>
          </a:xfrm>
          <a:prstGeom prst="rect">
            <a:avLst/>
          </a:prstGeom>
          <a:effectLst>
            <a:outerShdw blurRad="101600" sx="101000" sy="101000" algn="ctr" rotWithShape="0">
              <a:prstClr val="black">
                <a:alpha val="20000"/>
              </a:prstClr>
            </a:outerShdw>
          </a:effectLst>
        </p:spPr>
      </p:pic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A23499F2-F5F6-2869-B8DE-9324C18375B8}"/>
              </a:ext>
            </a:extLst>
          </p:cNvPr>
          <p:cNvSpPr/>
          <p:nvPr/>
        </p:nvSpPr>
        <p:spPr>
          <a:xfrm>
            <a:off x="8850815" y="3586613"/>
            <a:ext cx="2502985" cy="1183906"/>
          </a:xfrm>
          <a:prstGeom prst="roundRect">
            <a:avLst>
              <a:gd name="adj" fmla="val 842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Adapter</a:t>
            </a:r>
            <a:r>
              <a:rPr lang="ja-JP" altLang="en-US" dirty="0">
                <a:solidFill>
                  <a:schemeClr val="tx1"/>
                </a:solidFill>
              </a:rPr>
              <a:t>で</a:t>
            </a:r>
            <a:r>
              <a:rPr lang="en-US" altLang="ja-JP" dirty="0">
                <a:solidFill>
                  <a:schemeClr val="tx1"/>
                </a:solidFill>
              </a:rPr>
              <a:t>null</a:t>
            </a:r>
            <a:r>
              <a:rPr lang="ja-JP" altLang="en-US" dirty="0">
                <a:solidFill>
                  <a:schemeClr val="tx1"/>
                </a:solidFill>
              </a:rPr>
              <a:t>を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ハイフンに変換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14" name="二等辺三角形 13">
            <a:extLst>
              <a:ext uri="{FF2B5EF4-FFF2-40B4-BE49-F238E27FC236}">
                <a16:creationId xmlns:a16="http://schemas.microsoft.com/office/drawing/2014/main" id="{B086A882-CF7C-104A-DB15-DF9A0E980099}"/>
              </a:ext>
            </a:extLst>
          </p:cNvPr>
          <p:cNvSpPr/>
          <p:nvPr/>
        </p:nvSpPr>
        <p:spPr>
          <a:xfrm rot="16200000">
            <a:off x="8513737" y="3875371"/>
            <a:ext cx="327259" cy="606391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1817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E65E76-87DF-D79D-3AB6-4AA0CBBC3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テスト実施</a:t>
            </a:r>
            <a:endParaRPr kumimoji="1" lang="ja-JP" altLang="en-US" dirty="0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0984163B-20FA-7B21-5EAE-6EFE215787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4669348"/>
              </p:ext>
            </p:extLst>
          </p:nvPr>
        </p:nvGraphicFramePr>
        <p:xfrm>
          <a:off x="838202" y="1358273"/>
          <a:ext cx="10515596" cy="5201829"/>
        </p:xfrm>
        <a:graphic>
          <a:graphicData uri="http://schemas.openxmlformats.org/drawingml/2006/table">
            <a:tbl>
              <a:tblPr/>
              <a:tblGrid>
                <a:gridCol w="1435518">
                  <a:extLst>
                    <a:ext uri="{9D8B030D-6E8A-4147-A177-3AD203B41FA5}">
                      <a16:colId xmlns:a16="http://schemas.microsoft.com/office/drawing/2014/main" val="1355672704"/>
                    </a:ext>
                  </a:extLst>
                </a:gridCol>
                <a:gridCol w="1435518">
                  <a:extLst>
                    <a:ext uri="{9D8B030D-6E8A-4147-A177-3AD203B41FA5}">
                      <a16:colId xmlns:a16="http://schemas.microsoft.com/office/drawing/2014/main" val="3622714083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1984465158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102420482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83045113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392569336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964588586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4120912827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903475326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833025926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3087331398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482787608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3907916141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952308992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1578472776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925084204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4148022861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3252136971"/>
                    </a:ext>
                  </a:extLst>
                </a:gridCol>
                <a:gridCol w="449680">
                  <a:extLst>
                    <a:ext uri="{9D8B030D-6E8A-4147-A177-3AD203B41FA5}">
                      <a16:colId xmlns:a16="http://schemas.microsoft.com/office/drawing/2014/main" val="2926391691"/>
                    </a:ext>
                  </a:extLst>
                </a:gridCol>
              </a:tblGrid>
              <a:tr h="2363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カテゴリ</a:t>
                      </a:r>
                    </a:p>
                  </a:txBody>
                  <a:tcPr marL="4324" marR="4324" marT="43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条件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3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10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11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12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13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14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15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16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17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701333"/>
                  </a:ext>
                </a:extLst>
              </a:tr>
              <a:tr h="236352"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氏名</a:t>
                      </a:r>
                    </a:p>
                  </a:txBody>
                  <a:tcPr marL="4324" marR="4324" marT="43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20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文字未満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882985"/>
                  </a:ext>
                </a:extLst>
              </a:tr>
              <a:tr h="2363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20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文字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67338"/>
                  </a:ext>
                </a:extLst>
              </a:tr>
              <a:tr h="2363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21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文字以上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351621"/>
                  </a:ext>
                </a:extLst>
              </a:tr>
              <a:tr h="2363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アルファベット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162200"/>
                  </a:ext>
                </a:extLst>
              </a:tr>
              <a:tr h="2363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重複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3069589"/>
                  </a:ext>
                </a:extLst>
              </a:tr>
              <a:tr h="2363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スペースのみ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080613"/>
                  </a:ext>
                </a:extLst>
              </a:tr>
              <a:tr h="2363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空欄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239144"/>
                  </a:ext>
                </a:extLst>
              </a:tr>
              <a:tr h="236352"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メールアドレス</a:t>
                      </a:r>
                    </a:p>
                  </a:txBody>
                  <a:tcPr marL="4324" marR="4324" marT="43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50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文字未満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890015"/>
                  </a:ext>
                </a:extLst>
              </a:tr>
              <a:tr h="2363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50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文字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987726"/>
                  </a:ext>
                </a:extLst>
              </a:tr>
              <a:tr h="2363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50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文字以上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812005"/>
                  </a:ext>
                </a:extLst>
              </a:tr>
              <a:tr h="46858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フォーマット乱れ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123046"/>
                  </a:ext>
                </a:extLst>
              </a:tr>
              <a:tr h="24255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全角入力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942716"/>
                  </a:ext>
                </a:extLst>
              </a:tr>
              <a:tr h="2363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日本語入力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05092"/>
                  </a:ext>
                </a:extLst>
              </a:tr>
              <a:tr h="2363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重複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446928"/>
                  </a:ext>
                </a:extLst>
              </a:tr>
              <a:tr h="2363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スペースのみ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659862"/>
                  </a:ext>
                </a:extLst>
              </a:tr>
              <a:tr h="2363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空欄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796488"/>
                  </a:ext>
                </a:extLst>
              </a:tr>
              <a:tr h="236352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所属部署</a:t>
                      </a:r>
                    </a:p>
                  </a:txBody>
                  <a:tcPr marL="4324" marR="4324" marT="43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未選択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568613"/>
                  </a:ext>
                </a:extLst>
              </a:tr>
              <a:tr h="2363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一つ選択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537429"/>
                  </a:ext>
                </a:extLst>
              </a:tr>
              <a:tr h="236352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雇用形態</a:t>
                      </a:r>
                    </a:p>
                  </a:txBody>
                  <a:tcPr marL="4324" marR="4324" marT="43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未選択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30328"/>
                  </a:ext>
                </a:extLst>
              </a:tr>
              <a:tr h="2363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一つ選択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Y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4324" marR="4324" marT="43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412830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D526EC0-CE82-3818-9E7F-3FE10C763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F285-7DC3-4F9C-8E53-6893EECBFE42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2A8CDB3-9597-DA98-B4D6-679BEC87549D}"/>
              </a:ext>
            </a:extLst>
          </p:cNvPr>
          <p:cNvSpPr txBox="1"/>
          <p:nvPr/>
        </p:nvSpPr>
        <p:spPr>
          <a:xfrm>
            <a:off x="838202" y="941732"/>
            <a:ext cx="2781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デシジョンテーブル</a:t>
            </a:r>
          </a:p>
        </p:txBody>
      </p:sp>
    </p:spTree>
    <p:extLst>
      <p:ext uri="{BB962C8B-B14F-4D97-AF65-F5344CB8AC3E}">
        <p14:creationId xmlns:p14="http://schemas.microsoft.com/office/powerpoint/2010/main" val="3368846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00B2C845-A385-0969-0B17-0675F54809B7}"/>
              </a:ext>
            </a:extLst>
          </p:cNvPr>
          <p:cNvSpPr/>
          <p:nvPr/>
        </p:nvSpPr>
        <p:spPr>
          <a:xfrm rot="10800000">
            <a:off x="2202151" y="3005630"/>
            <a:ext cx="1568824" cy="2190731"/>
          </a:xfrm>
          <a:custGeom>
            <a:avLst/>
            <a:gdLst>
              <a:gd name="csX0" fmla="*/ 1303524 w 1568824"/>
              <a:gd name="csY0" fmla="*/ 2190731 h 2190731"/>
              <a:gd name="csX1" fmla="*/ 265299 w 1568824"/>
              <a:gd name="csY1" fmla="*/ 2190731 h 2190731"/>
              <a:gd name="csX2" fmla="*/ 265299 w 1568824"/>
              <a:gd name="csY2" fmla="*/ 627530 h 2190731"/>
              <a:gd name="csX3" fmla="*/ 0 w 1568824"/>
              <a:gd name="csY3" fmla="*/ 627530 h 2190731"/>
              <a:gd name="csX4" fmla="*/ 784412 w 1568824"/>
              <a:gd name="csY4" fmla="*/ 0 h 2190731"/>
              <a:gd name="csX5" fmla="*/ 1568824 w 1568824"/>
              <a:gd name="csY5" fmla="*/ 627530 h 2190731"/>
              <a:gd name="csX6" fmla="*/ 1303524 w 1568824"/>
              <a:gd name="csY6" fmla="*/ 627530 h 2190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568824" h="2190731">
                <a:moveTo>
                  <a:pt x="1303524" y="2190731"/>
                </a:moveTo>
                <a:lnTo>
                  <a:pt x="265299" y="2190731"/>
                </a:lnTo>
                <a:lnTo>
                  <a:pt x="265299" y="627530"/>
                </a:lnTo>
                <a:lnTo>
                  <a:pt x="0" y="627530"/>
                </a:lnTo>
                <a:lnTo>
                  <a:pt x="784412" y="0"/>
                </a:lnTo>
                <a:lnTo>
                  <a:pt x="1568824" y="627530"/>
                </a:lnTo>
                <a:lnTo>
                  <a:pt x="1303524" y="62753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30FD6960-75F4-024B-134D-C64586D98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61210"/>
            <a:ext cx="5157787" cy="534508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アーキテクチャの理解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83D3AB3F-00C2-ADA2-8A81-D5B8B2E4C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61210"/>
            <a:ext cx="5183188" cy="534508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Null</a:t>
            </a:r>
            <a:r>
              <a:rPr lang="ja-JP" altLang="en-US" sz="2800" dirty="0"/>
              <a:t>許容型の制御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87FBC6-25C3-6D9A-86B8-FD65797B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F285-7DC3-4F9C-8E53-6893EECBFE42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1859FEE-9E5F-E7A8-BE6A-E5A5DF795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困ったこと</a:t>
            </a:r>
            <a:endParaRPr kumimoji="1" lang="ja-JP" altLang="en-US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CFF6806D-5699-FF09-4724-059F2366CE7D}"/>
              </a:ext>
            </a:extLst>
          </p:cNvPr>
          <p:cNvSpPr/>
          <p:nvPr/>
        </p:nvSpPr>
        <p:spPr>
          <a:xfrm>
            <a:off x="1198104" y="1881398"/>
            <a:ext cx="3576918" cy="1124230"/>
          </a:xfrm>
          <a:prstGeom prst="roundRect">
            <a:avLst>
              <a:gd name="adj" fmla="val 678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処理の流れが追えない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クラス図が書けない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960D94D5-C5C5-1390-8062-74789A6B9452}"/>
              </a:ext>
            </a:extLst>
          </p:cNvPr>
          <p:cNvSpPr/>
          <p:nvPr/>
        </p:nvSpPr>
        <p:spPr>
          <a:xfrm>
            <a:off x="1198104" y="4976602"/>
            <a:ext cx="3576918" cy="1583500"/>
          </a:xfrm>
          <a:prstGeom prst="roundRect">
            <a:avLst>
              <a:gd name="adj" fmla="val 6783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処理の実装対象を選択できる</a:t>
            </a:r>
            <a:endParaRPr lang="en-US" altLang="ja-JP" dirty="0"/>
          </a:p>
          <a:p>
            <a:pPr algn="ctr"/>
            <a:r>
              <a:rPr kumimoji="1" lang="ja-JP" altLang="en-US" dirty="0"/>
              <a:t>不具合の原因箇所を推定できる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EA8BBCC9-9E14-4564-4C41-584CD5DB4DCB}"/>
              </a:ext>
            </a:extLst>
          </p:cNvPr>
          <p:cNvSpPr/>
          <p:nvPr/>
        </p:nvSpPr>
        <p:spPr>
          <a:xfrm>
            <a:off x="520148" y="3571841"/>
            <a:ext cx="4932830" cy="838550"/>
          </a:xfrm>
          <a:prstGeom prst="roundRect">
            <a:avLst>
              <a:gd name="adj" fmla="val 6783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データの流れを地道に辿る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クラスを削減したレイヤードモデルから理解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D2F24A21-E8E6-7FA7-30E6-7166FA835651}"/>
              </a:ext>
            </a:extLst>
          </p:cNvPr>
          <p:cNvSpPr/>
          <p:nvPr/>
        </p:nvSpPr>
        <p:spPr>
          <a:xfrm rot="10800000">
            <a:off x="7679578" y="3005628"/>
            <a:ext cx="1568824" cy="2190731"/>
          </a:xfrm>
          <a:custGeom>
            <a:avLst/>
            <a:gdLst>
              <a:gd name="csX0" fmla="*/ 1303524 w 1568824"/>
              <a:gd name="csY0" fmla="*/ 2190731 h 2190731"/>
              <a:gd name="csX1" fmla="*/ 265299 w 1568824"/>
              <a:gd name="csY1" fmla="*/ 2190731 h 2190731"/>
              <a:gd name="csX2" fmla="*/ 265299 w 1568824"/>
              <a:gd name="csY2" fmla="*/ 627530 h 2190731"/>
              <a:gd name="csX3" fmla="*/ 0 w 1568824"/>
              <a:gd name="csY3" fmla="*/ 627530 h 2190731"/>
              <a:gd name="csX4" fmla="*/ 784412 w 1568824"/>
              <a:gd name="csY4" fmla="*/ 0 h 2190731"/>
              <a:gd name="csX5" fmla="*/ 1568824 w 1568824"/>
              <a:gd name="csY5" fmla="*/ 627530 h 2190731"/>
              <a:gd name="csX6" fmla="*/ 1303524 w 1568824"/>
              <a:gd name="csY6" fmla="*/ 627530 h 2190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568824" h="2190731">
                <a:moveTo>
                  <a:pt x="1303524" y="2190731"/>
                </a:moveTo>
                <a:lnTo>
                  <a:pt x="265299" y="2190731"/>
                </a:lnTo>
                <a:lnTo>
                  <a:pt x="265299" y="627530"/>
                </a:lnTo>
                <a:lnTo>
                  <a:pt x="0" y="627530"/>
                </a:lnTo>
                <a:lnTo>
                  <a:pt x="784412" y="0"/>
                </a:lnTo>
                <a:lnTo>
                  <a:pt x="1568824" y="627530"/>
                </a:lnTo>
                <a:lnTo>
                  <a:pt x="1303524" y="62753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5850384F-EB4C-5E7B-B665-ED84523BA67E}"/>
              </a:ext>
            </a:extLst>
          </p:cNvPr>
          <p:cNvSpPr/>
          <p:nvPr/>
        </p:nvSpPr>
        <p:spPr>
          <a:xfrm>
            <a:off x="6675531" y="1881398"/>
            <a:ext cx="3576918" cy="1124230"/>
          </a:xfrm>
          <a:prstGeom prst="roundRect">
            <a:avLst>
              <a:gd name="adj" fmla="val 678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VS Code</a:t>
            </a:r>
            <a:r>
              <a:rPr kumimoji="1" lang="ja-JP" altLang="en-US" dirty="0">
                <a:solidFill>
                  <a:schemeClr val="tx1"/>
                </a:solidFill>
              </a:rPr>
              <a:t>のアラート</a:t>
            </a:r>
            <a:r>
              <a:rPr lang="ja-JP" altLang="en-US" dirty="0">
                <a:solidFill>
                  <a:schemeClr val="tx1"/>
                </a:solidFill>
              </a:rPr>
              <a:t>を消すために適当に</a:t>
            </a:r>
            <a:r>
              <a:rPr lang="en-US" altLang="ja-JP" dirty="0">
                <a:solidFill>
                  <a:schemeClr val="tx1"/>
                </a:solidFill>
              </a:rPr>
              <a:t>Null</a:t>
            </a:r>
            <a:r>
              <a:rPr lang="ja-JP" altLang="en-US" dirty="0">
                <a:solidFill>
                  <a:schemeClr val="tx1"/>
                </a:solidFill>
              </a:rPr>
              <a:t>許容にする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CED7CBB0-20E9-5212-C097-5E892E403178}"/>
              </a:ext>
            </a:extLst>
          </p:cNvPr>
          <p:cNvSpPr/>
          <p:nvPr/>
        </p:nvSpPr>
        <p:spPr>
          <a:xfrm>
            <a:off x="6675531" y="4976602"/>
            <a:ext cx="3576918" cy="1583500"/>
          </a:xfrm>
          <a:prstGeom prst="roundRect">
            <a:avLst>
              <a:gd name="adj" fmla="val 6783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業務ロジックや仕様に合わせて</a:t>
            </a:r>
            <a:r>
              <a:rPr lang="en-US" altLang="ja-JP" dirty="0"/>
              <a:t>Null</a:t>
            </a:r>
            <a:r>
              <a:rPr lang="ja-JP" altLang="en-US" dirty="0"/>
              <a:t>許容を制御できる</a:t>
            </a:r>
            <a:endParaRPr lang="en-US" altLang="ja-JP" dirty="0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EDD92D62-22F4-4AC2-3961-09326EE8824F}"/>
              </a:ext>
            </a:extLst>
          </p:cNvPr>
          <p:cNvSpPr/>
          <p:nvPr/>
        </p:nvSpPr>
        <p:spPr>
          <a:xfrm>
            <a:off x="5996875" y="3571841"/>
            <a:ext cx="4932830" cy="838550"/>
          </a:xfrm>
          <a:prstGeom prst="roundRect">
            <a:avLst>
              <a:gd name="adj" fmla="val 6783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アーキテクチャでクラス間のつながりを理解</a:t>
            </a:r>
          </a:p>
        </p:txBody>
      </p:sp>
    </p:spTree>
    <p:extLst>
      <p:ext uri="{BB962C8B-B14F-4D97-AF65-F5344CB8AC3E}">
        <p14:creationId xmlns:p14="http://schemas.microsoft.com/office/powerpoint/2010/main" val="3688313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744BE-5954-D4DC-AB20-521C9FF12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00C27CFC-A0F0-08E9-3FBA-3D08840272E4}"/>
              </a:ext>
            </a:extLst>
          </p:cNvPr>
          <p:cNvSpPr/>
          <p:nvPr/>
        </p:nvSpPr>
        <p:spPr>
          <a:xfrm rot="10800000">
            <a:off x="5311589" y="2976754"/>
            <a:ext cx="1568824" cy="2190731"/>
          </a:xfrm>
          <a:custGeom>
            <a:avLst/>
            <a:gdLst>
              <a:gd name="csX0" fmla="*/ 1303524 w 1568824"/>
              <a:gd name="csY0" fmla="*/ 2190731 h 2190731"/>
              <a:gd name="csX1" fmla="*/ 265299 w 1568824"/>
              <a:gd name="csY1" fmla="*/ 2190731 h 2190731"/>
              <a:gd name="csX2" fmla="*/ 265299 w 1568824"/>
              <a:gd name="csY2" fmla="*/ 627530 h 2190731"/>
              <a:gd name="csX3" fmla="*/ 0 w 1568824"/>
              <a:gd name="csY3" fmla="*/ 627530 h 2190731"/>
              <a:gd name="csX4" fmla="*/ 784412 w 1568824"/>
              <a:gd name="csY4" fmla="*/ 0 h 2190731"/>
              <a:gd name="csX5" fmla="*/ 1568824 w 1568824"/>
              <a:gd name="csY5" fmla="*/ 627530 h 2190731"/>
              <a:gd name="csX6" fmla="*/ 1303524 w 1568824"/>
              <a:gd name="csY6" fmla="*/ 627530 h 2190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568824" h="2190731">
                <a:moveTo>
                  <a:pt x="1303524" y="2190731"/>
                </a:moveTo>
                <a:lnTo>
                  <a:pt x="265299" y="2190731"/>
                </a:lnTo>
                <a:lnTo>
                  <a:pt x="265299" y="627530"/>
                </a:lnTo>
                <a:lnTo>
                  <a:pt x="0" y="627530"/>
                </a:lnTo>
                <a:lnTo>
                  <a:pt x="784412" y="0"/>
                </a:lnTo>
                <a:lnTo>
                  <a:pt x="1568824" y="627530"/>
                </a:lnTo>
                <a:lnTo>
                  <a:pt x="1303524" y="62753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4131EF18-ACD7-2C2D-EF80-BBD34646C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531" y="1061210"/>
            <a:ext cx="5157787" cy="534508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スケジュール管理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9642B9-527E-B4A9-1248-58904D3AA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F285-7DC3-4F9C-8E53-6893EECBFE42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C75EEDA-D1CE-6B66-B75B-B34DAD3F7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成長したこと</a:t>
            </a:r>
            <a:endParaRPr kumimoji="1" lang="ja-JP" altLang="en-US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361829B6-44E9-708B-2A14-F1850DA24EF3}"/>
              </a:ext>
            </a:extLst>
          </p:cNvPr>
          <p:cNvSpPr/>
          <p:nvPr/>
        </p:nvSpPr>
        <p:spPr>
          <a:xfrm>
            <a:off x="3047198" y="1852524"/>
            <a:ext cx="6097604" cy="1124230"/>
          </a:xfrm>
          <a:prstGeom prst="roundRect">
            <a:avLst>
              <a:gd name="adj" fmla="val 678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常に焦っている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遅延を定量化できない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D9BAB21E-2C93-5A55-C124-02D3D51E804E}"/>
              </a:ext>
            </a:extLst>
          </p:cNvPr>
          <p:cNvSpPr/>
          <p:nvPr/>
        </p:nvSpPr>
        <p:spPr>
          <a:xfrm>
            <a:off x="3047198" y="4947726"/>
            <a:ext cx="6097604" cy="1343989"/>
          </a:xfrm>
          <a:prstGeom prst="roundRect">
            <a:avLst>
              <a:gd name="adj" fmla="val 6783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進捗</a:t>
            </a:r>
            <a:r>
              <a:rPr kumimoji="1" lang="ja-JP" altLang="en-US" dirty="0"/>
              <a:t>を</a:t>
            </a:r>
            <a:r>
              <a:rPr lang="ja-JP" altLang="en-US" dirty="0"/>
              <a:t>人に説明しやすくなった</a:t>
            </a:r>
            <a:endParaRPr lang="en-US" altLang="ja-JP" dirty="0"/>
          </a:p>
          <a:p>
            <a:pPr algn="ctr"/>
            <a:r>
              <a:rPr kumimoji="1" lang="ja-JP" altLang="en-US" dirty="0"/>
              <a:t>大幅な遅延が発生せず調整しやすい</a:t>
            </a:r>
            <a:endParaRPr kumimoji="1" lang="en-US" altLang="ja-JP" dirty="0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90C3A724-5733-3999-068B-F8383D21B532}"/>
              </a:ext>
            </a:extLst>
          </p:cNvPr>
          <p:cNvSpPr/>
          <p:nvPr/>
        </p:nvSpPr>
        <p:spPr>
          <a:xfrm>
            <a:off x="1880135" y="3542965"/>
            <a:ext cx="8431730" cy="838550"/>
          </a:xfrm>
          <a:prstGeom prst="roundRect">
            <a:avLst>
              <a:gd name="adj" fmla="val 6783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エクセルを用いた半日単位のスケジュール設定した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バッファは最終日ではなく、</a:t>
            </a:r>
            <a:r>
              <a:rPr kumimoji="1" lang="en-US" altLang="ja-JP" dirty="0">
                <a:solidFill>
                  <a:schemeClr val="tx1"/>
                </a:solidFill>
              </a:rPr>
              <a:t>2</a:t>
            </a:r>
            <a:r>
              <a:rPr kumimoji="1" lang="ja-JP" altLang="en-US" dirty="0">
                <a:solidFill>
                  <a:schemeClr val="tx1"/>
                </a:solidFill>
              </a:rPr>
              <a:t>回に分けて設定した</a:t>
            </a:r>
          </a:p>
        </p:txBody>
      </p:sp>
    </p:spTree>
    <p:extLst>
      <p:ext uri="{BB962C8B-B14F-4D97-AF65-F5344CB8AC3E}">
        <p14:creationId xmlns:p14="http://schemas.microsoft.com/office/powerpoint/2010/main" val="3603149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1CD22-998D-BB1E-32A5-3A837752D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E7F148B6-2F78-95E0-F0C7-50A490BCF667}"/>
              </a:ext>
            </a:extLst>
          </p:cNvPr>
          <p:cNvSpPr/>
          <p:nvPr/>
        </p:nvSpPr>
        <p:spPr>
          <a:xfrm rot="10800000">
            <a:off x="5311589" y="2976754"/>
            <a:ext cx="1568824" cy="2190731"/>
          </a:xfrm>
          <a:custGeom>
            <a:avLst/>
            <a:gdLst>
              <a:gd name="csX0" fmla="*/ 1303524 w 1568824"/>
              <a:gd name="csY0" fmla="*/ 2190731 h 2190731"/>
              <a:gd name="csX1" fmla="*/ 265299 w 1568824"/>
              <a:gd name="csY1" fmla="*/ 2190731 h 2190731"/>
              <a:gd name="csX2" fmla="*/ 265299 w 1568824"/>
              <a:gd name="csY2" fmla="*/ 627530 h 2190731"/>
              <a:gd name="csX3" fmla="*/ 0 w 1568824"/>
              <a:gd name="csY3" fmla="*/ 627530 h 2190731"/>
              <a:gd name="csX4" fmla="*/ 784412 w 1568824"/>
              <a:gd name="csY4" fmla="*/ 0 h 2190731"/>
              <a:gd name="csX5" fmla="*/ 1568824 w 1568824"/>
              <a:gd name="csY5" fmla="*/ 627530 h 2190731"/>
              <a:gd name="csX6" fmla="*/ 1303524 w 1568824"/>
              <a:gd name="csY6" fmla="*/ 627530 h 2190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568824" h="2190731">
                <a:moveTo>
                  <a:pt x="1303524" y="2190731"/>
                </a:moveTo>
                <a:lnTo>
                  <a:pt x="265299" y="2190731"/>
                </a:lnTo>
                <a:lnTo>
                  <a:pt x="265299" y="627530"/>
                </a:lnTo>
                <a:lnTo>
                  <a:pt x="0" y="627530"/>
                </a:lnTo>
                <a:lnTo>
                  <a:pt x="784412" y="0"/>
                </a:lnTo>
                <a:lnTo>
                  <a:pt x="1568824" y="627530"/>
                </a:lnTo>
                <a:lnTo>
                  <a:pt x="1303524" y="62753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D977713A-F59C-20E4-7E65-52A53A4F4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531" y="1061210"/>
            <a:ext cx="5157787" cy="534508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アーキテクチャ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F77256-18F6-E162-A852-D472EFDF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F285-7DC3-4F9C-8E53-6893EECBFE42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16D03BB-A714-BBF4-7282-3BA393F8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興味を持ったこと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475183F-B736-860D-F681-57CCB38935AF}"/>
              </a:ext>
            </a:extLst>
          </p:cNvPr>
          <p:cNvSpPr/>
          <p:nvPr/>
        </p:nvSpPr>
        <p:spPr>
          <a:xfrm>
            <a:off x="3047198" y="1852524"/>
            <a:ext cx="6097604" cy="1124230"/>
          </a:xfrm>
          <a:prstGeom prst="roundRect">
            <a:avLst>
              <a:gd name="adj" fmla="val 678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複雑で理解できない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7474A561-A027-8D27-8AE4-8D7A5C48511E}"/>
              </a:ext>
            </a:extLst>
          </p:cNvPr>
          <p:cNvSpPr/>
          <p:nvPr/>
        </p:nvSpPr>
        <p:spPr>
          <a:xfrm>
            <a:off x="1880135" y="4947726"/>
            <a:ext cx="8431730" cy="1343989"/>
          </a:xfrm>
          <a:prstGeom prst="roundRect">
            <a:avLst>
              <a:gd name="adj" fmla="val 6783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 err="1">
                <a:effectLst>
                  <a:outerShdw blurRad="38100" dist="38100" dir="2700000" algn="tl" rotWithShape="0">
                    <a:prstClr val="black">
                      <a:alpha val="13000"/>
                    </a:prstClr>
                  </a:outerShdw>
                </a:effectLst>
              </a:rPr>
              <a:t>ToBe</a:t>
            </a:r>
            <a:r>
              <a:rPr lang="ja-JP" altLang="en-US" b="1" dirty="0">
                <a:effectLst>
                  <a:outerShdw blurRad="38100" dist="38100" dir="2700000" algn="tl" rotWithShape="0">
                    <a:prstClr val="black">
                      <a:alpha val="13000"/>
                    </a:prstClr>
                  </a:outerShdw>
                </a:effectLst>
              </a:rPr>
              <a:t>：違いを説明できる状態になる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219E9391-5E45-5750-D51B-392241680997}"/>
              </a:ext>
            </a:extLst>
          </p:cNvPr>
          <p:cNvSpPr/>
          <p:nvPr/>
        </p:nvSpPr>
        <p:spPr>
          <a:xfrm>
            <a:off x="1880135" y="3319132"/>
            <a:ext cx="8431730" cy="1124230"/>
          </a:xfrm>
          <a:prstGeom prst="roundRect">
            <a:avLst>
              <a:gd name="adj" fmla="val 6783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他にも様々なアーキテクチャがあることが判明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理解すると合理的で美しい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保守性を高めるために重要</a:t>
            </a:r>
          </a:p>
        </p:txBody>
      </p:sp>
    </p:spTree>
    <p:extLst>
      <p:ext uri="{BB962C8B-B14F-4D97-AF65-F5344CB8AC3E}">
        <p14:creationId xmlns:p14="http://schemas.microsoft.com/office/powerpoint/2010/main" val="2163962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スリップストリーム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727</Words>
  <Application>Microsoft Office PowerPoint</Application>
  <PresentationFormat>ワイド画面</PresentationFormat>
  <Paragraphs>342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Arial</vt:lpstr>
      <vt:lpstr>Gill Sans MT</vt:lpstr>
      <vt:lpstr>Office テーマ</vt:lpstr>
      <vt:lpstr>研修報告 「WEBアプリ開発演習」</vt:lpstr>
      <vt:lpstr>開発スケジュール</vt:lpstr>
      <vt:lpstr>成果物の概要</vt:lpstr>
      <vt:lpstr>使用技術</vt:lpstr>
      <vt:lpstr>従業員登録機能 - 入力画面</vt:lpstr>
      <vt:lpstr>従業員登録機能 - 確認</vt:lpstr>
      <vt:lpstr>従業員登録機能 - 完了</vt:lpstr>
      <vt:lpstr>従業員登録機能 - メールアドレス重複</vt:lpstr>
      <vt:lpstr>従業員一覧機能</vt:lpstr>
      <vt:lpstr>テスト実施</vt:lpstr>
      <vt:lpstr>困ったこと</vt:lpstr>
      <vt:lpstr>成長したこと</vt:lpstr>
      <vt:lpstr>興味を持ったこと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opnewemp016</dc:creator>
  <cp:lastModifiedBy>opnewemp016</cp:lastModifiedBy>
  <cp:revision>73</cp:revision>
  <dcterms:created xsi:type="dcterms:W3CDTF">2026-05-19T07:47:15Z</dcterms:created>
  <dcterms:modified xsi:type="dcterms:W3CDTF">2026-05-28T07:33:16Z</dcterms:modified>
</cp:coreProperties>
</file>